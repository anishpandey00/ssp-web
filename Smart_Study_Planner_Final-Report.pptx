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  <p:sldId id="277" r:id="rId21"/>
    <p:sldId id="278" r:id="rId22"/>
    <p:sldId id="279" r:id="rId23"/>
    <p:sldId id="288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58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92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7471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6FBF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6858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Study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Planner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37947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4407408"/>
            <a:ext cx="3474720" cy="36576"/>
          </a:xfrm>
          <a:prstGeom prst="rect">
            <a:avLst/>
          </a:prstGeom>
          <a:solidFill>
            <a:srgbClr val="2E6FBF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548640" y="459028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Anish Pandey  ·  June 8, 2026  ·  v1.0.0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0" y="914400"/>
            <a:ext cx="4572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 to help students plan study tasks, track progress, and take quizzes.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dashboard with live stats, task management, quiz engine, and admin panel.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 (frontend), Express (backend), and PostgreSQL (database).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dev server proxies all /api requests to Express on port 4000.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402336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8C"/>
            </a:solidFill>
            <a:prstDash val="solid"/>
          </a:ln>
          <a:effectLst>
            <a:outerShdw blurRad="76200" dist="25400" dir="27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457200" y="418795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47288" y="402336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FBF"/>
            </a:solidFill>
            <a:prstDash val="solid"/>
          </a:ln>
          <a:effectLst>
            <a:outerShdw blurRad="76200" dist="25400" dir="27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3447288" y="418795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6F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47288" y="4800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37376" y="402336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8C"/>
            </a:solidFill>
            <a:prstDash val="solid"/>
          </a:ln>
          <a:effectLst>
            <a:outerShdw blurRad="76200" dist="25400" dir="27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6437376" y="418795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37376" y="4800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427464" y="402336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FBF"/>
            </a:solidFill>
            <a:prstDash val="solid"/>
          </a:ln>
          <a:effectLst>
            <a:outerShdw blurRad="76200" dist="25400" dir="2700000" algn="bl" rotWithShape="0">
              <a:srgbClr val="BBBBBB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9427464" y="418795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6F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427464" y="4800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Quizzes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1097280"/>
            <a:ext cx="3749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27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12344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Planning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platform to plan and track study tasks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097280"/>
            <a:ext cx="3749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27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4526280" y="1280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120640" y="12344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 Engine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16459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self-assessment via interactive multiple-choice quizzes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366760" y="1097280"/>
            <a:ext cx="3749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27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8549640" y="1280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0" y="12344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0" y="16459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academic progress with completion rates and quiz history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246120"/>
            <a:ext cx="3749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27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502920" y="3429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33832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7947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role-based access using JWT authentication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43400" y="3246120"/>
            <a:ext cx="3749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27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4526280" y="3429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120640" y="33832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Panel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20640" y="37947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quiz content and user roles dynamically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3749040" cy="5394960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3749040" cy="475488"/>
          </a:xfrm>
          <a:prstGeom prst="rect">
            <a:avLst/>
          </a:prstGeom>
          <a:solidFill>
            <a:srgbClr val="2E6FBF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⚛️  Frontend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3383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18.3.1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468880"/>
            <a:ext cx="3383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DOM 6.26.2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246120"/>
            <a:ext cx="3383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 Components 6.4.2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4023360"/>
            <a:ext cx="3383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5.4.8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43400" y="1005840"/>
            <a:ext cx="3749040" cy="5394960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Shape 13"/>
          <p:cNvSpPr/>
          <p:nvPr/>
        </p:nvSpPr>
        <p:spPr>
          <a:xfrm>
            <a:off x="4343400" y="1005840"/>
            <a:ext cx="3749040" cy="475488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4480560" y="100584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🖥️  Backend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26280" y="1691640"/>
            <a:ext cx="3383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4663440" y="16916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 4.19.0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26280" y="2468880"/>
            <a:ext cx="3383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4663440" y="24688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(pg) 8.21.0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26280" y="3246120"/>
            <a:ext cx="3383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4663440" y="32461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jsonwebtoken 9.0.3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26280" y="4023360"/>
            <a:ext cx="3383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4663440" y="40233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6.0.0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26280" y="4800600"/>
            <a:ext cx="3383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4663440" y="48006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 17.4.2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366760" y="1005840"/>
            <a:ext cx="3749040" cy="5394960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Shape 26"/>
          <p:cNvSpPr/>
          <p:nvPr/>
        </p:nvSpPr>
        <p:spPr>
          <a:xfrm>
            <a:off x="8366760" y="1005840"/>
            <a:ext cx="3749040" cy="47548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8503920" y="100584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🛠️  Dev Tools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549640" y="1691640"/>
            <a:ext cx="3383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8686800" y="16916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concurrently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549640" y="2468880"/>
            <a:ext cx="3383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8686800" y="24688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localtunnel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549640" y="3246120"/>
            <a:ext cx="3383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8686800" y="32461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proxy (/api → :4000)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660041" y="2767106"/>
            <a:ext cx="2880828" cy="30719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Three-Layer System Architecture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0042" y="806824"/>
            <a:ext cx="2919738" cy="1494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i="1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Presentation → Application → Data  ·  HTTP/REST between layers  ·  SQL between app and database</a:t>
            </a:r>
            <a:endParaRPr lang="en-US" sz="2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72817" y="467208"/>
            <a:ext cx="6284970" cy="59235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38882" y="639193"/>
            <a:ext cx="3571810" cy="35735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 Case Diagram — Student</a:t>
            </a:r>
            <a:endParaRPr lang="en-US" sz="6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38882" y="4631161"/>
            <a:ext cx="3571810" cy="15593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Student can Register, Login, Manage Tasks (Add/Update/Delete), Take Quiz, View Progress and Logout</a:t>
            </a:r>
            <a:endParaRPr lang="en-US" sz="20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54296" y="1250900"/>
            <a:ext cx="7214616" cy="43287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30936" y="639520"/>
            <a:ext cx="3429000" cy="1719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 Case Diagram — Admin</a:t>
            </a:r>
            <a:endParaRPr lang="en-US" sz="3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i="1"/>
              <a:t>Admin can Login, Manage Students, Create/Delete Quizzes, View Reports, Send Notifications and Logout</a:t>
            </a:r>
            <a:endParaRPr lang="en-US" sz="22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54296" y="667513"/>
            <a:ext cx="6903720" cy="55229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793662" y="386930"/>
            <a:ext cx="10066122" cy="1298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>
                <a:latin typeface="+mj-lt"/>
                <a:ea typeface="+mj-ea"/>
                <a:cs typeface="+mj-cs"/>
              </a:rPr>
              <a:t>Context Diagram</a:t>
            </a:r>
            <a:endParaRPr lang="en-US" sz="4800">
              <a:latin typeface="+mj-lt"/>
              <a:ea typeface="+mj-ea"/>
              <a:cs typeface="+mj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i="1"/>
              <a:t>Shows how the Smart Study Planner interacts with external entities: Student, Admin, Browser/Device, Backend Server, Database</a:t>
            </a:r>
            <a:endParaRPr lang="en-US" sz="20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r="512" b="3"/>
          <a:stretch>
            <a:fillRect/>
          </a:stretch>
        </p:blipFill>
        <p:spPr>
          <a:xfrm>
            <a:off x="5324560" y="2367398"/>
            <a:ext cx="5737250" cy="3831101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Entity-Relationship (ER) Diagram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960120"/>
            <a:ext cx="11247120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r="1" b="2140"/>
          <a:stretch>
            <a:fillRect/>
          </a:stretch>
        </p:blipFill>
        <p:spPr>
          <a:xfrm>
            <a:off x="621675" y="1170213"/>
            <a:ext cx="6589537" cy="4514006"/>
          </a:xfrm>
          <a:prstGeom prst="rect">
            <a:avLst/>
          </a:prstGeom>
        </p:spPr>
      </p:pic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8052497" y="1056640"/>
            <a:ext cx="3197660" cy="31257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Database Design — 6 Tables</a:t>
            </a:r>
            <a:endParaRPr lang="en-US" sz="6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052496" y="4301656"/>
            <a:ext cx="2705619" cy="76261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tables in Third Normal Form (3NF). PK = Primary Key · FK = Foreign Key</a:t>
            </a:r>
            <a:endParaRPr lang="en-US" sz="16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Tables Detail — users, tasks, quizzes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3749040" cy="402336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384048" y="960120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 users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62456"/>
            <a:ext cx="1005840" cy="329184"/>
          </a:xfrm>
          <a:prstGeom prst="rect">
            <a:avLst/>
          </a:prstGeom>
          <a:solidFill>
            <a:srgbClr val="E8EEF8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320040" y="1362456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80160" y="1362456"/>
            <a:ext cx="777240" cy="329184"/>
          </a:xfrm>
          <a:prstGeom prst="rect">
            <a:avLst/>
          </a:prstGeom>
          <a:solidFill>
            <a:srgbClr val="E8EEF8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1325880" y="1362456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57400" y="1362456"/>
            <a:ext cx="1874520" cy="329184"/>
          </a:xfrm>
          <a:prstGeom prst="rect">
            <a:avLst/>
          </a:prstGeom>
          <a:solidFill>
            <a:srgbClr val="E8EEF8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2103120" y="1362456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10058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320040" y="1691640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280160" y="1691640"/>
            <a:ext cx="777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1325880" y="1691640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57400" y="1691640"/>
            <a:ext cx="1874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2103120" y="1691640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 (UUID)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029968"/>
            <a:ext cx="10058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320040" y="2029968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280160" y="2029968"/>
            <a:ext cx="7772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1325880" y="2029968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057400" y="2029968"/>
            <a:ext cx="187452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2103120" y="2029968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368296"/>
            <a:ext cx="10058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320040" y="2368296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280160" y="2368296"/>
            <a:ext cx="777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1325880" y="2368296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057400" y="2368296"/>
            <a:ext cx="1874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2103120" y="2368296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UNIQUE, NOT NULL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706624"/>
            <a:ext cx="10058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320040" y="2706624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280160" y="2706624"/>
            <a:ext cx="7772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Text 30"/>
          <p:cNvSpPr/>
          <p:nvPr/>
        </p:nvSpPr>
        <p:spPr>
          <a:xfrm>
            <a:off x="1325880" y="2706624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057400" y="2706624"/>
            <a:ext cx="187452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2103120" y="2706624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bcrypt hashed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044952"/>
            <a:ext cx="10058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Text 34"/>
          <p:cNvSpPr/>
          <p:nvPr/>
        </p:nvSpPr>
        <p:spPr>
          <a:xfrm>
            <a:off x="320040" y="3044952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280160" y="3044952"/>
            <a:ext cx="777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1325880" y="3044952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057400" y="3044952"/>
            <a:ext cx="1874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2103120" y="3044952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'student' | 'admin'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3383280"/>
            <a:ext cx="10058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Text 40"/>
          <p:cNvSpPr/>
          <p:nvPr/>
        </p:nvSpPr>
        <p:spPr>
          <a:xfrm>
            <a:off x="320040" y="3383280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last_login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280160" y="3383280"/>
            <a:ext cx="7772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1325880" y="3383280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057400" y="3383280"/>
            <a:ext cx="187452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2103120" y="3383280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 timestamp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4320" y="4315968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FFF8E1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384048" y="4361688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Stores all users. Role decides dashboard view.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251960" y="960120"/>
            <a:ext cx="3749040" cy="402336"/>
          </a:xfrm>
          <a:prstGeom prst="rect">
            <a:avLst/>
          </a:prstGeom>
          <a:solidFill>
            <a:srgbClr val="2E6FBF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0" name="Text 48"/>
          <p:cNvSpPr/>
          <p:nvPr/>
        </p:nvSpPr>
        <p:spPr>
          <a:xfrm>
            <a:off x="4361688" y="960120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 tasks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251960" y="1362456"/>
            <a:ext cx="1005840" cy="329184"/>
          </a:xfrm>
          <a:prstGeom prst="rect">
            <a:avLst/>
          </a:prstGeom>
          <a:solidFill>
            <a:srgbClr val="E8EEF8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2" name="Text 50"/>
          <p:cNvSpPr/>
          <p:nvPr/>
        </p:nvSpPr>
        <p:spPr>
          <a:xfrm>
            <a:off x="4297680" y="1362456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257800" y="1362456"/>
            <a:ext cx="777240" cy="329184"/>
          </a:xfrm>
          <a:prstGeom prst="rect">
            <a:avLst/>
          </a:prstGeom>
          <a:solidFill>
            <a:srgbClr val="E8EEF8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Text 52"/>
          <p:cNvSpPr/>
          <p:nvPr/>
        </p:nvSpPr>
        <p:spPr>
          <a:xfrm>
            <a:off x="5303520" y="1362456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035040" y="1362456"/>
            <a:ext cx="1874520" cy="329184"/>
          </a:xfrm>
          <a:prstGeom prst="rect">
            <a:avLst/>
          </a:prstGeom>
          <a:solidFill>
            <a:srgbClr val="E8EEF8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6" name="Text 54"/>
          <p:cNvSpPr/>
          <p:nvPr/>
        </p:nvSpPr>
        <p:spPr>
          <a:xfrm>
            <a:off x="6080760" y="1362456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251960" y="1691640"/>
            <a:ext cx="10058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8" name="Text 56"/>
          <p:cNvSpPr/>
          <p:nvPr/>
        </p:nvSpPr>
        <p:spPr>
          <a:xfrm>
            <a:off x="4297680" y="1691640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257800" y="1691640"/>
            <a:ext cx="777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0" name="Text 58"/>
          <p:cNvSpPr/>
          <p:nvPr/>
        </p:nvSpPr>
        <p:spPr>
          <a:xfrm>
            <a:off x="5303520" y="1691640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035040" y="1691640"/>
            <a:ext cx="1874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2" name="Text 60"/>
          <p:cNvSpPr/>
          <p:nvPr/>
        </p:nvSpPr>
        <p:spPr>
          <a:xfrm>
            <a:off x="6080760" y="1691640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 (UUID)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251960" y="2029968"/>
            <a:ext cx="10058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4" name="Text 62"/>
          <p:cNvSpPr/>
          <p:nvPr/>
        </p:nvSpPr>
        <p:spPr>
          <a:xfrm>
            <a:off x="4297680" y="2029968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257800" y="2029968"/>
            <a:ext cx="7772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6" name="Text 64"/>
          <p:cNvSpPr/>
          <p:nvPr/>
        </p:nvSpPr>
        <p:spPr>
          <a:xfrm>
            <a:off x="5303520" y="2029968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035040" y="2029968"/>
            <a:ext cx="187452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8" name="Text 66"/>
          <p:cNvSpPr/>
          <p:nvPr/>
        </p:nvSpPr>
        <p:spPr>
          <a:xfrm>
            <a:off x="6080760" y="2029968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→ users(id)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251960" y="2368296"/>
            <a:ext cx="10058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0" name="Text 68"/>
          <p:cNvSpPr/>
          <p:nvPr/>
        </p:nvSpPr>
        <p:spPr>
          <a:xfrm>
            <a:off x="4297680" y="2368296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257800" y="2368296"/>
            <a:ext cx="777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2" name="Text 70"/>
          <p:cNvSpPr/>
          <p:nvPr/>
        </p:nvSpPr>
        <p:spPr>
          <a:xfrm>
            <a:off x="5303520" y="2368296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035040" y="2368296"/>
            <a:ext cx="1874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4" name="Text 72"/>
          <p:cNvSpPr/>
          <p:nvPr/>
        </p:nvSpPr>
        <p:spPr>
          <a:xfrm>
            <a:off x="6080760" y="2368296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251960" y="2706624"/>
            <a:ext cx="10058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6" name="Text 74"/>
          <p:cNvSpPr/>
          <p:nvPr/>
        </p:nvSpPr>
        <p:spPr>
          <a:xfrm>
            <a:off x="4297680" y="2706624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5257800" y="2706624"/>
            <a:ext cx="7772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8" name="Text 76"/>
          <p:cNvSpPr/>
          <p:nvPr/>
        </p:nvSpPr>
        <p:spPr>
          <a:xfrm>
            <a:off x="5303520" y="2706624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035040" y="2706624"/>
            <a:ext cx="187452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0" name="Text 78"/>
          <p:cNvSpPr/>
          <p:nvPr/>
        </p:nvSpPr>
        <p:spPr>
          <a:xfrm>
            <a:off x="6080760" y="2706624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251960" y="3044952"/>
            <a:ext cx="10058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2" name="Text 80"/>
          <p:cNvSpPr/>
          <p:nvPr/>
        </p:nvSpPr>
        <p:spPr>
          <a:xfrm>
            <a:off x="4297680" y="3044952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5257800" y="3044952"/>
            <a:ext cx="777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4" name="Text 82"/>
          <p:cNvSpPr/>
          <p:nvPr/>
        </p:nvSpPr>
        <p:spPr>
          <a:xfrm>
            <a:off x="5303520" y="3044952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6035040" y="3044952"/>
            <a:ext cx="1874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6" name="Text 84"/>
          <p:cNvSpPr/>
          <p:nvPr/>
        </p:nvSpPr>
        <p:spPr>
          <a:xfrm>
            <a:off x="6080760" y="3044952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pending/in-progress/done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251960" y="3383280"/>
            <a:ext cx="10058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8" name="Text 86"/>
          <p:cNvSpPr/>
          <p:nvPr/>
        </p:nvSpPr>
        <p:spPr>
          <a:xfrm>
            <a:off x="4297680" y="3383280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5257800" y="3383280"/>
            <a:ext cx="7772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0" name="Text 88"/>
          <p:cNvSpPr/>
          <p:nvPr/>
        </p:nvSpPr>
        <p:spPr>
          <a:xfrm>
            <a:off x="5303520" y="3383280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6035040" y="3383280"/>
            <a:ext cx="187452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2" name="Text 90"/>
          <p:cNvSpPr/>
          <p:nvPr/>
        </p:nvSpPr>
        <p:spPr>
          <a:xfrm>
            <a:off x="6080760" y="3383280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low/medium/high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4251960" y="3721608"/>
            <a:ext cx="10058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4" name="Text 92"/>
          <p:cNvSpPr/>
          <p:nvPr/>
        </p:nvSpPr>
        <p:spPr>
          <a:xfrm>
            <a:off x="4297680" y="3721608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due_date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5257800" y="3721608"/>
            <a:ext cx="777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6" name="Text 94"/>
          <p:cNvSpPr/>
          <p:nvPr/>
        </p:nvSpPr>
        <p:spPr>
          <a:xfrm>
            <a:off x="5303520" y="3721608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6035040" y="3721608"/>
            <a:ext cx="1874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8" name="Text 96"/>
          <p:cNvSpPr/>
          <p:nvPr/>
        </p:nvSpPr>
        <p:spPr>
          <a:xfrm>
            <a:off x="6080760" y="3721608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 date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4251960" y="4315968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FFF8E1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0" name="Text 98"/>
          <p:cNvSpPr/>
          <p:nvPr/>
        </p:nvSpPr>
        <p:spPr>
          <a:xfrm>
            <a:off x="4361688" y="4361688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Study tasks created by students. Scoped per user.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8229600" y="960120"/>
            <a:ext cx="3749040" cy="402336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2" name="Text 100"/>
          <p:cNvSpPr/>
          <p:nvPr/>
        </p:nvSpPr>
        <p:spPr>
          <a:xfrm>
            <a:off x="8339328" y="960120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 quizzes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8229600" y="1362456"/>
            <a:ext cx="1005840" cy="329184"/>
          </a:xfrm>
          <a:prstGeom prst="rect">
            <a:avLst/>
          </a:prstGeom>
          <a:solidFill>
            <a:srgbClr val="E8EEF8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4" name="Text 102"/>
          <p:cNvSpPr/>
          <p:nvPr/>
        </p:nvSpPr>
        <p:spPr>
          <a:xfrm>
            <a:off x="8275320" y="1362456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9235440" y="1362456"/>
            <a:ext cx="777240" cy="329184"/>
          </a:xfrm>
          <a:prstGeom prst="rect">
            <a:avLst/>
          </a:prstGeom>
          <a:solidFill>
            <a:srgbClr val="E8EEF8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6" name="Text 104"/>
          <p:cNvSpPr/>
          <p:nvPr/>
        </p:nvSpPr>
        <p:spPr>
          <a:xfrm>
            <a:off x="9281160" y="1362456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10012680" y="1362456"/>
            <a:ext cx="1874520" cy="329184"/>
          </a:xfrm>
          <a:prstGeom prst="rect">
            <a:avLst/>
          </a:prstGeom>
          <a:solidFill>
            <a:srgbClr val="E8EEF8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8" name="Text 106"/>
          <p:cNvSpPr/>
          <p:nvPr/>
        </p:nvSpPr>
        <p:spPr>
          <a:xfrm>
            <a:off x="10058400" y="1362456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8229600" y="1691640"/>
            <a:ext cx="10058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0" name="Text 108"/>
          <p:cNvSpPr/>
          <p:nvPr/>
        </p:nvSpPr>
        <p:spPr>
          <a:xfrm>
            <a:off x="8275320" y="1691640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9235440" y="1691640"/>
            <a:ext cx="777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2" name="Text 110"/>
          <p:cNvSpPr/>
          <p:nvPr/>
        </p:nvSpPr>
        <p:spPr>
          <a:xfrm>
            <a:off x="9281160" y="1691640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10012680" y="1691640"/>
            <a:ext cx="1874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4" name="Text 112"/>
          <p:cNvSpPr/>
          <p:nvPr/>
        </p:nvSpPr>
        <p:spPr>
          <a:xfrm>
            <a:off x="10058400" y="1691640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 (UUID)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8229600" y="2029968"/>
            <a:ext cx="10058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6" name="Text 114"/>
          <p:cNvSpPr/>
          <p:nvPr/>
        </p:nvSpPr>
        <p:spPr>
          <a:xfrm>
            <a:off x="8275320" y="2029968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950" dirty="0"/>
          </a:p>
        </p:txBody>
      </p:sp>
      <p:sp>
        <p:nvSpPr>
          <p:cNvPr id="117" name="Shape 115"/>
          <p:cNvSpPr/>
          <p:nvPr/>
        </p:nvSpPr>
        <p:spPr>
          <a:xfrm>
            <a:off x="9235440" y="2029968"/>
            <a:ext cx="7772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8" name="Text 116"/>
          <p:cNvSpPr/>
          <p:nvPr/>
        </p:nvSpPr>
        <p:spPr>
          <a:xfrm>
            <a:off x="9281160" y="2029968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50" dirty="0"/>
          </a:p>
        </p:txBody>
      </p:sp>
      <p:sp>
        <p:nvSpPr>
          <p:cNvPr id="119" name="Shape 117"/>
          <p:cNvSpPr/>
          <p:nvPr/>
        </p:nvSpPr>
        <p:spPr>
          <a:xfrm>
            <a:off x="10012680" y="2029968"/>
            <a:ext cx="187452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0" name="Text 118"/>
          <p:cNvSpPr/>
          <p:nvPr/>
        </p:nvSpPr>
        <p:spPr>
          <a:xfrm>
            <a:off x="10058400" y="2029968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</a:t>
            </a:r>
            <a:endParaRPr lang="en-US" sz="950" dirty="0"/>
          </a:p>
        </p:txBody>
      </p:sp>
      <p:sp>
        <p:nvSpPr>
          <p:cNvPr id="121" name="Shape 119"/>
          <p:cNvSpPr/>
          <p:nvPr/>
        </p:nvSpPr>
        <p:spPr>
          <a:xfrm>
            <a:off x="8229600" y="2368296"/>
            <a:ext cx="10058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2" name="Text 120"/>
          <p:cNvSpPr/>
          <p:nvPr/>
        </p:nvSpPr>
        <p:spPr>
          <a:xfrm>
            <a:off x="8275320" y="2368296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</a:t>
            </a:r>
            <a:endParaRPr lang="en-US" sz="950" dirty="0"/>
          </a:p>
        </p:txBody>
      </p:sp>
      <p:sp>
        <p:nvSpPr>
          <p:cNvPr id="123" name="Shape 121"/>
          <p:cNvSpPr/>
          <p:nvPr/>
        </p:nvSpPr>
        <p:spPr>
          <a:xfrm>
            <a:off x="9235440" y="2368296"/>
            <a:ext cx="777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4" name="Text 122"/>
          <p:cNvSpPr/>
          <p:nvPr/>
        </p:nvSpPr>
        <p:spPr>
          <a:xfrm>
            <a:off x="9281160" y="2368296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50" dirty="0"/>
          </a:p>
        </p:txBody>
      </p:sp>
      <p:sp>
        <p:nvSpPr>
          <p:cNvPr id="125" name="Shape 123"/>
          <p:cNvSpPr/>
          <p:nvPr/>
        </p:nvSpPr>
        <p:spPr>
          <a:xfrm>
            <a:off x="10012680" y="2368296"/>
            <a:ext cx="1874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6" name="Text 124"/>
          <p:cNvSpPr/>
          <p:nvPr/>
        </p:nvSpPr>
        <p:spPr>
          <a:xfrm>
            <a:off x="10058400" y="2368296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Web, Cloud</a:t>
            </a:r>
            <a:endParaRPr lang="en-US" sz="950" dirty="0"/>
          </a:p>
        </p:txBody>
      </p:sp>
      <p:sp>
        <p:nvSpPr>
          <p:cNvPr id="127" name="Shape 125"/>
          <p:cNvSpPr/>
          <p:nvPr/>
        </p:nvSpPr>
        <p:spPr>
          <a:xfrm>
            <a:off x="8229600" y="2706624"/>
            <a:ext cx="10058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8" name="Text 126"/>
          <p:cNvSpPr/>
          <p:nvPr/>
        </p:nvSpPr>
        <p:spPr>
          <a:xfrm>
            <a:off x="8275320" y="2706624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total_marks</a:t>
            </a:r>
            <a:endParaRPr lang="en-US" sz="950" dirty="0"/>
          </a:p>
        </p:txBody>
      </p:sp>
      <p:sp>
        <p:nvSpPr>
          <p:cNvPr id="129" name="Shape 127"/>
          <p:cNvSpPr/>
          <p:nvPr/>
        </p:nvSpPr>
        <p:spPr>
          <a:xfrm>
            <a:off x="9235440" y="2706624"/>
            <a:ext cx="7772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0" name="Text 128"/>
          <p:cNvSpPr/>
          <p:nvPr/>
        </p:nvSpPr>
        <p:spPr>
          <a:xfrm>
            <a:off x="9281160" y="2706624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950" dirty="0"/>
          </a:p>
        </p:txBody>
      </p:sp>
      <p:sp>
        <p:nvSpPr>
          <p:cNvPr id="131" name="Shape 129"/>
          <p:cNvSpPr/>
          <p:nvPr/>
        </p:nvSpPr>
        <p:spPr>
          <a:xfrm>
            <a:off x="10012680" y="2706624"/>
            <a:ext cx="187452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2" name="Text 130"/>
          <p:cNvSpPr/>
          <p:nvPr/>
        </p:nvSpPr>
        <p:spPr>
          <a:xfrm>
            <a:off x="10058400" y="2706624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available score</a:t>
            </a:r>
            <a:endParaRPr lang="en-US" sz="950" dirty="0"/>
          </a:p>
        </p:txBody>
      </p:sp>
      <p:sp>
        <p:nvSpPr>
          <p:cNvPr id="133" name="Shape 131"/>
          <p:cNvSpPr/>
          <p:nvPr/>
        </p:nvSpPr>
        <p:spPr>
          <a:xfrm>
            <a:off x="8229600" y="3044952"/>
            <a:ext cx="10058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4" name="Text 132"/>
          <p:cNvSpPr/>
          <p:nvPr/>
        </p:nvSpPr>
        <p:spPr>
          <a:xfrm>
            <a:off x="8275320" y="3044952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is_active</a:t>
            </a:r>
            <a:endParaRPr lang="en-US" sz="950" dirty="0"/>
          </a:p>
        </p:txBody>
      </p:sp>
      <p:sp>
        <p:nvSpPr>
          <p:cNvPr id="135" name="Shape 133"/>
          <p:cNvSpPr/>
          <p:nvPr/>
        </p:nvSpPr>
        <p:spPr>
          <a:xfrm>
            <a:off x="9235440" y="3044952"/>
            <a:ext cx="777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6" name="Text 134"/>
          <p:cNvSpPr/>
          <p:nvPr/>
        </p:nvSpPr>
        <p:spPr>
          <a:xfrm>
            <a:off x="9281160" y="3044952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endParaRPr lang="en-US" sz="950" dirty="0"/>
          </a:p>
        </p:txBody>
      </p:sp>
      <p:sp>
        <p:nvSpPr>
          <p:cNvPr id="137" name="Shape 135"/>
          <p:cNvSpPr/>
          <p:nvPr/>
        </p:nvSpPr>
        <p:spPr>
          <a:xfrm>
            <a:off x="10012680" y="3044952"/>
            <a:ext cx="1874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8" name="Text 136"/>
          <p:cNvSpPr/>
          <p:nvPr/>
        </p:nvSpPr>
        <p:spPr>
          <a:xfrm>
            <a:off x="10058400" y="3044952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 = hidden from students</a:t>
            </a:r>
            <a:endParaRPr lang="en-US" sz="950" dirty="0"/>
          </a:p>
        </p:txBody>
      </p:sp>
      <p:sp>
        <p:nvSpPr>
          <p:cNvPr id="139" name="Shape 137"/>
          <p:cNvSpPr/>
          <p:nvPr/>
        </p:nvSpPr>
        <p:spPr>
          <a:xfrm>
            <a:off x="8229600" y="3383280"/>
            <a:ext cx="10058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0" name="Text 138"/>
          <p:cNvSpPr/>
          <p:nvPr/>
        </p:nvSpPr>
        <p:spPr>
          <a:xfrm>
            <a:off x="8275320" y="3383280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created_by</a:t>
            </a:r>
            <a:endParaRPr lang="en-US" sz="950" dirty="0"/>
          </a:p>
        </p:txBody>
      </p:sp>
      <p:sp>
        <p:nvSpPr>
          <p:cNvPr id="141" name="Shape 139"/>
          <p:cNvSpPr/>
          <p:nvPr/>
        </p:nvSpPr>
        <p:spPr>
          <a:xfrm>
            <a:off x="9235440" y="3383280"/>
            <a:ext cx="7772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2" name="Text 140"/>
          <p:cNvSpPr/>
          <p:nvPr/>
        </p:nvSpPr>
        <p:spPr>
          <a:xfrm>
            <a:off x="9281160" y="3383280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50" dirty="0"/>
          </a:p>
        </p:txBody>
      </p:sp>
      <p:sp>
        <p:nvSpPr>
          <p:cNvPr id="143" name="Shape 141"/>
          <p:cNvSpPr/>
          <p:nvPr/>
        </p:nvSpPr>
        <p:spPr>
          <a:xfrm>
            <a:off x="10012680" y="3383280"/>
            <a:ext cx="187452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4" name="Text 142"/>
          <p:cNvSpPr/>
          <p:nvPr/>
        </p:nvSpPr>
        <p:spPr>
          <a:xfrm>
            <a:off x="10058400" y="3383280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→ users(id)</a:t>
            </a:r>
            <a:endParaRPr lang="en-US" sz="950" dirty="0"/>
          </a:p>
        </p:txBody>
      </p:sp>
      <p:sp>
        <p:nvSpPr>
          <p:cNvPr id="145" name="Shape 143"/>
          <p:cNvSpPr/>
          <p:nvPr/>
        </p:nvSpPr>
        <p:spPr>
          <a:xfrm>
            <a:off x="8229600" y="4315968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FFF8E1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6" name="Text 144"/>
          <p:cNvSpPr/>
          <p:nvPr/>
        </p:nvSpPr>
        <p:spPr>
          <a:xfrm>
            <a:off x="8339328" y="4361688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Quizzes by admin. is_active hides without deleting.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Tables Detail — questions, quiz_results, progress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3749040" cy="40233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384048" y="960120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 questions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62456"/>
            <a:ext cx="1005840" cy="329184"/>
          </a:xfrm>
          <a:prstGeom prst="rect">
            <a:avLst/>
          </a:prstGeom>
          <a:solidFill>
            <a:srgbClr val="E8EEF8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320040" y="1362456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80160" y="1362456"/>
            <a:ext cx="777240" cy="329184"/>
          </a:xfrm>
          <a:prstGeom prst="rect">
            <a:avLst/>
          </a:prstGeom>
          <a:solidFill>
            <a:srgbClr val="E8EEF8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1325880" y="1362456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57400" y="1362456"/>
            <a:ext cx="1874520" cy="329184"/>
          </a:xfrm>
          <a:prstGeom prst="rect">
            <a:avLst/>
          </a:prstGeom>
          <a:solidFill>
            <a:srgbClr val="E8EEF8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2103120" y="1362456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10058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320040" y="1691640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280160" y="1691640"/>
            <a:ext cx="777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1325880" y="1691640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57400" y="1691640"/>
            <a:ext cx="1874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2103120" y="1691640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 (UUID)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029968"/>
            <a:ext cx="10058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320040" y="2029968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quiz_id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280160" y="2029968"/>
            <a:ext cx="7772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1325880" y="2029968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057400" y="2029968"/>
            <a:ext cx="187452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2103120" y="2029968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→ quizzes CASCADE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368296"/>
            <a:ext cx="10058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320040" y="2368296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question_text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280160" y="2368296"/>
            <a:ext cx="777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1325880" y="2368296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057400" y="2368296"/>
            <a:ext cx="1874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2103120" y="2368296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706624"/>
            <a:ext cx="10058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320040" y="2706624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option_a/b/c/d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280160" y="2706624"/>
            <a:ext cx="7772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Text 30"/>
          <p:cNvSpPr/>
          <p:nvPr/>
        </p:nvSpPr>
        <p:spPr>
          <a:xfrm>
            <a:off x="1325880" y="2706624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057400" y="2706624"/>
            <a:ext cx="187452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2103120" y="2706624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 choices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044952"/>
            <a:ext cx="10058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Text 34"/>
          <p:cNvSpPr/>
          <p:nvPr/>
        </p:nvSpPr>
        <p:spPr>
          <a:xfrm>
            <a:off x="320040" y="3044952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correct_answer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280160" y="3044952"/>
            <a:ext cx="777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1325880" y="3044952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057400" y="3044952"/>
            <a:ext cx="1874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2103120" y="3044952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B, C or 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3383280"/>
            <a:ext cx="10058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Text 40"/>
          <p:cNvSpPr/>
          <p:nvPr/>
        </p:nvSpPr>
        <p:spPr>
          <a:xfrm>
            <a:off x="320040" y="3383280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280160" y="3383280"/>
            <a:ext cx="7772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1325880" y="3383280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057400" y="3383280"/>
            <a:ext cx="187452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Text 44"/>
          <p:cNvSpPr/>
          <p:nvPr/>
        </p:nvSpPr>
        <p:spPr>
          <a:xfrm>
            <a:off x="2103120" y="3383280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Points for correct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4320" y="4315968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FFF8E1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Text 46"/>
          <p:cNvSpPr/>
          <p:nvPr/>
        </p:nvSpPr>
        <p:spPr>
          <a:xfrm>
            <a:off x="384048" y="4361688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Questions per quiz. CASCADE deletes when quiz deleted.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251960" y="960120"/>
            <a:ext cx="3749040" cy="402336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0" name="Text 48"/>
          <p:cNvSpPr/>
          <p:nvPr/>
        </p:nvSpPr>
        <p:spPr>
          <a:xfrm>
            <a:off x="4361688" y="960120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 quiz_results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251960" y="1362456"/>
            <a:ext cx="1005840" cy="329184"/>
          </a:xfrm>
          <a:prstGeom prst="rect">
            <a:avLst/>
          </a:prstGeom>
          <a:solidFill>
            <a:srgbClr val="E8EEF8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2" name="Text 50"/>
          <p:cNvSpPr/>
          <p:nvPr/>
        </p:nvSpPr>
        <p:spPr>
          <a:xfrm>
            <a:off x="4297680" y="1362456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257800" y="1362456"/>
            <a:ext cx="777240" cy="329184"/>
          </a:xfrm>
          <a:prstGeom prst="rect">
            <a:avLst/>
          </a:prstGeom>
          <a:solidFill>
            <a:srgbClr val="E8EEF8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Text 52"/>
          <p:cNvSpPr/>
          <p:nvPr/>
        </p:nvSpPr>
        <p:spPr>
          <a:xfrm>
            <a:off x="5303520" y="1362456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035040" y="1362456"/>
            <a:ext cx="1874520" cy="329184"/>
          </a:xfrm>
          <a:prstGeom prst="rect">
            <a:avLst/>
          </a:prstGeom>
          <a:solidFill>
            <a:srgbClr val="E8EEF8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6" name="Text 54"/>
          <p:cNvSpPr/>
          <p:nvPr/>
        </p:nvSpPr>
        <p:spPr>
          <a:xfrm>
            <a:off x="6080760" y="1362456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251960" y="1691640"/>
            <a:ext cx="10058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8" name="Text 56"/>
          <p:cNvSpPr/>
          <p:nvPr/>
        </p:nvSpPr>
        <p:spPr>
          <a:xfrm>
            <a:off x="4297680" y="1691640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257800" y="1691640"/>
            <a:ext cx="777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0" name="Text 58"/>
          <p:cNvSpPr/>
          <p:nvPr/>
        </p:nvSpPr>
        <p:spPr>
          <a:xfrm>
            <a:off x="5303520" y="1691640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035040" y="1691640"/>
            <a:ext cx="1874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2" name="Text 60"/>
          <p:cNvSpPr/>
          <p:nvPr/>
        </p:nvSpPr>
        <p:spPr>
          <a:xfrm>
            <a:off x="6080760" y="1691640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 (UUID)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251960" y="2029968"/>
            <a:ext cx="10058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4" name="Text 62"/>
          <p:cNvSpPr/>
          <p:nvPr/>
        </p:nvSpPr>
        <p:spPr>
          <a:xfrm>
            <a:off x="4297680" y="2029968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257800" y="2029968"/>
            <a:ext cx="7772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6" name="Text 64"/>
          <p:cNvSpPr/>
          <p:nvPr/>
        </p:nvSpPr>
        <p:spPr>
          <a:xfrm>
            <a:off x="5303520" y="2029968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035040" y="2029968"/>
            <a:ext cx="187452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8" name="Text 66"/>
          <p:cNvSpPr/>
          <p:nvPr/>
        </p:nvSpPr>
        <p:spPr>
          <a:xfrm>
            <a:off x="6080760" y="2029968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→ users(id)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251960" y="2368296"/>
            <a:ext cx="10058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0" name="Text 68"/>
          <p:cNvSpPr/>
          <p:nvPr/>
        </p:nvSpPr>
        <p:spPr>
          <a:xfrm>
            <a:off x="4297680" y="2368296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quiz_id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257800" y="2368296"/>
            <a:ext cx="777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2" name="Text 70"/>
          <p:cNvSpPr/>
          <p:nvPr/>
        </p:nvSpPr>
        <p:spPr>
          <a:xfrm>
            <a:off x="5303520" y="2368296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035040" y="2368296"/>
            <a:ext cx="1874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4" name="Text 72"/>
          <p:cNvSpPr/>
          <p:nvPr/>
        </p:nvSpPr>
        <p:spPr>
          <a:xfrm>
            <a:off x="6080760" y="2368296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→ quizzes(id)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251960" y="2706624"/>
            <a:ext cx="10058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6" name="Text 74"/>
          <p:cNvSpPr/>
          <p:nvPr/>
        </p:nvSpPr>
        <p:spPr>
          <a:xfrm>
            <a:off x="4297680" y="2706624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5257800" y="2706624"/>
            <a:ext cx="7772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8" name="Text 76"/>
          <p:cNvSpPr/>
          <p:nvPr/>
        </p:nvSpPr>
        <p:spPr>
          <a:xfrm>
            <a:off x="5303520" y="2706624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035040" y="2706624"/>
            <a:ext cx="187452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0" name="Text 78"/>
          <p:cNvSpPr/>
          <p:nvPr/>
        </p:nvSpPr>
        <p:spPr>
          <a:xfrm>
            <a:off x="6080760" y="2706624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 answers count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251960" y="3044952"/>
            <a:ext cx="10058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2" name="Text 80"/>
          <p:cNvSpPr/>
          <p:nvPr/>
        </p:nvSpPr>
        <p:spPr>
          <a:xfrm>
            <a:off x="4297680" y="3044952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5257800" y="3044952"/>
            <a:ext cx="777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4" name="Text 82"/>
          <p:cNvSpPr/>
          <p:nvPr/>
        </p:nvSpPr>
        <p:spPr>
          <a:xfrm>
            <a:off x="5303520" y="3044952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6035040" y="3044952"/>
            <a:ext cx="1874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6" name="Text 84"/>
          <p:cNvSpPr/>
          <p:nvPr/>
        </p:nvSpPr>
        <p:spPr>
          <a:xfrm>
            <a:off x="6080760" y="3044952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questions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251960" y="3383280"/>
            <a:ext cx="10058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8" name="Text 86"/>
          <p:cNvSpPr/>
          <p:nvPr/>
        </p:nvSpPr>
        <p:spPr>
          <a:xfrm>
            <a:off x="4297680" y="3383280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percentage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5257800" y="3383280"/>
            <a:ext cx="7772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0" name="Text 88"/>
          <p:cNvSpPr/>
          <p:nvPr/>
        </p:nvSpPr>
        <p:spPr>
          <a:xfrm>
            <a:off x="5303520" y="3383280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6035040" y="3383280"/>
            <a:ext cx="187452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2" name="Text 90"/>
          <p:cNvSpPr/>
          <p:nvPr/>
        </p:nvSpPr>
        <p:spPr>
          <a:xfrm>
            <a:off x="6080760" y="3383280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score/total × 100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4251960" y="3721608"/>
            <a:ext cx="10058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4" name="Text 92"/>
          <p:cNvSpPr/>
          <p:nvPr/>
        </p:nvSpPr>
        <p:spPr>
          <a:xfrm>
            <a:off x="4297680" y="3721608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taken_at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5257800" y="3721608"/>
            <a:ext cx="777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6" name="Text 94"/>
          <p:cNvSpPr/>
          <p:nvPr/>
        </p:nvSpPr>
        <p:spPr>
          <a:xfrm>
            <a:off x="5303520" y="3721608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6035040" y="3721608"/>
            <a:ext cx="1874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8" name="Text 96"/>
          <p:cNvSpPr/>
          <p:nvPr/>
        </p:nvSpPr>
        <p:spPr>
          <a:xfrm>
            <a:off x="6080760" y="3721608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 timestamp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4251960" y="4315968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FFF8E1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0" name="Text 98"/>
          <p:cNvSpPr/>
          <p:nvPr/>
        </p:nvSpPr>
        <p:spPr>
          <a:xfrm>
            <a:off x="4361688" y="4361688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Each attempt saved separately. Supports retakes.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8229600" y="960120"/>
            <a:ext cx="3749040" cy="40233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2" name="Text 100"/>
          <p:cNvSpPr/>
          <p:nvPr/>
        </p:nvSpPr>
        <p:spPr>
          <a:xfrm>
            <a:off x="8339328" y="960120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 progress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8229600" y="1362456"/>
            <a:ext cx="1005840" cy="329184"/>
          </a:xfrm>
          <a:prstGeom prst="rect">
            <a:avLst/>
          </a:prstGeom>
          <a:solidFill>
            <a:srgbClr val="E8EEF8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4" name="Text 102"/>
          <p:cNvSpPr/>
          <p:nvPr/>
        </p:nvSpPr>
        <p:spPr>
          <a:xfrm>
            <a:off x="8275320" y="1362456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9235440" y="1362456"/>
            <a:ext cx="777240" cy="329184"/>
          </a:xfrm>
          <a:prstGeom prst="rect">
            <a:avLst/>
          </a:prstGeom>
          <a:solidFill>
            <a:srgbClr val="E8EEF8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6" name="Text 104"/>
          <p:cNvSpPr/>
          <p:nvPr/>
        </p:nvSpPr>
        <p:spPr>
          <a:xfrm>
            <a:off x="9281160" y="1362456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10012680" y="1362456"/>
            <a:ext cx="1874520" cy="329184"/>
          </a:xfrm>
          <a:prstGeom prst="rect">
            <a:avLst/>
          </a:prstGeom>
          <a:solidFill>
            <a:srgbClr val="E8EEF8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8" name="Text 106"/>
          <p:cNvSpPr/>
          <p:nvPr/>
        </p:nvSpPr>
        <p:spPr>
          <a:xfrm>
            <a:off x="10058400" y="1362456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8229600" y="1691640"/>
            <a:ext cx="10058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0" name="Text 108"/>
          <p:cNvSpPr/>
          <p:nvPr/>
        </p:nvSpPr>
        <p:spPr>
          <a:xfrm>
            <a:off x="8275320" y="1691640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9235440" y="1691640"/>
            <a:ext cx="777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2" name="Text 110"/>
          <p:cNvSpPr/>
          <p:nvPr/>
        </p:nvSpPr>
        <p:spPr>
          <a:xfrm>
            <a:off x="9281160" y="1691640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10012680" y="1691640"/>
            <a:ext cx="1874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4" name="Text 112"/>
          <p:cNvSpPr/>
          <p:nvPr/>
        </p:nvSpPr>
        <p:spPr>
          <a:xfrm>
            <a:off x="10058400" y="1691640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 (UUID)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8229600" y="2029968"/>
            <a:ext cx="10058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6" name="Text 114"/>
          <p:cNvSpPr/>
          <p:nvPr/>
        </p:nvSpPr>
        <p:spPr>
          <a:xfrm>
            <a:off x="8275320" y="2029968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endParaRPr lang="en-US" sz="950" dirty="0"/>
          </a:p>
        </p:txBody>
      </p:sp>
      <p:sp>
        <p:nvSpPr>
          <p:cNvPr id="117" name="Shape 115"/>
          <p:cNvSpPr/>
          <p:nvPr/>
        </p:nvSpPr>
        <p:spPr>
          <a:xfrm>
            <a:off x="9235440" y="2029968"/>
            <a:ext cx="7772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8" name="Text 116"/>
          <p:cNvSpPr/>
          <p:nvPr/>
        </p:nvSpPr>
        <p:spPr>
          <a:xfrm>
            <a:off x="9281160" y="2029968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50" dirty="0"/>
          </a:p>
        </p:txBody>
      </p:sp>
      <p:sp>
        <p:nvSpPr>
          <p:cNvPr id="119" name="Shape 117"/>
          <p:cNvSpPr/>
          <p:nvPr/>
        </p:nvSpPr>
        <p:spPr>
          <a:xfrm>
            <a:off x="10012680" y="2029968"/>
            <a:ext cx="187452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0" name="Text 118"/>
          <p:cNvSpPr/>
          <p:nvPr/>
        </p:nvSpPr>
        <p:spPr>
          <a:xfrm>
            <a:off x="10058400" y="2029968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→ users(id)</a:t>
            </a:r>
            <a:endParaRPr lang="en-US" sz="950" dirty="0"/>
          </a:p>
        </p:txBody>
      </p:sp>
      <p:sp>
        <p:nvSpPr>
          <p:cNvPr id="121" name="Shape 119"/>
          <p:cNvSpPr/>
          <p:nvPr/>
        </p:nvSpPr>
        <p:spPr>
          <a:xfrm>
            <a:off x="8229600" y="2368296"/>
            <a:ext cx="10058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2" name="Text 120"/>
          <p:cNvSpPr/>
          <p:nvPr/>
        </p:nvSpPr>
        <p:spPr>
          <a:xfrm>
            <a:off x="8275320" y="2368296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</a:t>
            </a:r>
            <a:endParaRPr lang="en-US" sz="950" dirty="0"/>
          </a:p>
        </p:txBody>
      </p:sp>
      <p:sp>
        <p:nvSpPr>
          <p:cNvPr id="123" name="Shape 121"/>
          <p:cNvSpPr/>
          <p:nvPr/>
        </p:nvSpPr>
        <p:spPr>
          <a:xfrm>
            <a:off x="9235440" y="2368296"/>
            <a:ext cx="777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4" name="Text 122"/>
          <p:cNvSpPr/>
          <p:nvPr/>
        </p:nvSpPr>
        <p:spPr>
          <a:xfrm>
            <a:off x="9281160" y="2368296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50" dirty="0"/>
          </a:p>
        </p:txBody>
      </p:sp>
      <p:sp>
        <p:nvSpPr>
          <p:cNvPr id="125" name="Shape 123"/>
          <p:cNvSpPr/>
          <p:nvPr/>
        </p:nvSpPr>
        <p:spPr>
          <a:xfrm>
            <a:off x="10012680" y="2368296"/>
            <a:ext cx="1874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6" name="Text 124"/>
          <p:cNvSpPr/>
          <p:nvPr/>
        </p:nvSpPr>
        <p:spPr>
          <a:xfrm>
            <a:off x="10058400" y="2368296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Web, Cloud</a:t>
            </a:r>
            <a:endParaRPr lang="en-US" sz="950" dirty="0"/>
          </a:p>
        </p:txBody>
      </p:sp>
      <p:sp>
        <p:nvSpPr>
          <p:cNvPr id="127" name="Shape 125"/>
          <p:cNvSpPr/>
          <p:nvPr/>
        </p:nvSpPr>
        <p:spPr>
          <a:xfrm>
            <a:off x="8229600" y="2706624"/>
            <a:ext cx="10058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8" name="Text 126"/>
          <p:cNvSpPr/>
          <p:nvPr/>
        </p:nvSpPr>
        <p:spPr>
          <a:xfrm>
            <a:off x="8275320" y="2706624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tasks_completed</a:t>
            </a:r>
            <a:endParaRPr lang="en-US" sz="950" dirty="0"/>
          </a:p>
        </p:txBody>
      </p:sp>
      <p:sp>
        <p:nvSpPr>
          <p:cNvPr id="129" name="Shape 127"/>
          <p:cNvSpPr/>
          <p:nvPr/>
        </p:nvSpPr>
        <p:spPr>
          <a:xfrm>
            <a:off x="9235440" y="2706624"/>
            <a:ext cx="7772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0" name="Text 128"/>
          <p:cNvSpPr/>
          <p:nvPr/>
        </p:nvSpPr>
        <p:spPr>
          <a:xfrm>
            <a:off x="9281160" y="2706624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950" dirty="0"/>
          </a:p>
        </p:txBody>
      </p:sp>
      <p:sp>
        <p:nvSpPr>
          <p:cNvPr id="131" name="Shape 129"/>
          <p:cNvSpPr/>
          <p:nvPr/>
        </p:nvSpPr>
        <p:spPr>
          <a:xfrm>
            <a:off x="10012680" y="2706624"/>
            <a:ext cx="187452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2" name="Text 130"/>
          <p:cNvSpPr/>
          <p:nvPr/>
        </p:nvSpPr>
        <p:spPr>
          <a:xfrm>
            <a:off x="10058400" y="2706624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 tasks count</a:t>
            </a:r>
            <a:endParaRPr lang="en-US" sz="950" dirty="0"/>
          </a:p>
        </p:txBody>
      </p:sp>
      <p:sp>
        <p:nvSpPr>
          <p:cNvPr id="133" name="Shape 131"/>
          <p:cNvSpPr/>
          <p:nvPr/>
        </p:nvSpPr>
        <p:spPr>
          <a:xfrm>
            <a:off x="8229600" y="3044952"/>
            <a:ext cx="10058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4" name="Text 132"/>
          <p:cNvSpPr/>
          <p:nvPr/>
        </p:nvSpPr>
        <p:spPr>
          <a:xfrm>
            <a:off x="8275320" y="3044952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quizzes_taken</a:t>
            </a:r>
            <a:endParaRPr lang="en-US" sz="950" dirty="0"/>
          </a:p>
        </p:txBody>
      </p:sp>
      <p:sp>
        <p:nvSpPr>
          <p:cNvPr id="135" name="Shape 133"/>
          <p:cNvSpPr/>
          <p:nvPr/>
        </p:nvSpPr>
        <p:spPr>
          <a:xfrm>
            <a:off x="9235440" y="3044952"/>
            <a:ext cx="777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6" name="Text 134"/>
          <p:cNvSpPr/>
          <p:nvPr/>
        </p:nvSpPr>
        <p:spPr>
          <a:xfrm>
            <a:off x="9281160" y="3044952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950" dirty="0"/>
          </a:p>
        </p:txBody>
      </p:sp>
      <p:sp>
        <p:nvSpPr>
          <p:cNvPr id="137" name="Shape 135"/>
          <p:cNvSpPr/>
          <p:nvPr/>
        </p:nvSpPr>
        <p:spPr>
          <a:xfrm>
            <a:off x="10012680" y="3044952"/>
            <a:ext cx="1874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8" name="Text 136"/>
          <p:cNvSpPr/>
          <p:nvPr/>
        </p:nvSpPr>
        <p:spPr>
          <a:xfrm>
            <a:off x="10058400" y="3044952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attempts</a:t>
            </a:r>
            <a:endParaRPr lang="en-US" sz="950" dirty="0"/>
          </a:p>
        </p:txBody>
      </p:sp>
      <p:sp>
        <p:nvSpPr>
          <p:cNvPr id="139" name="Shape 137"/>
          <p:cNvSpPr/>
          <p:nvPr/>
        </p:nvSpPr>
        <p:spPr>
          <a:xfrm>
            <a:off x="8229600" y="3383280"/>
            <a:ext cx="10058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0" name="Text 138"/>
          <p:cNvSpPr/>
          <p:nvPr/>
        </p:nvSpPr>
        <p:spPr>
          <a:xfrm>
            <a:off x="8275320" y="3383280"/>
            <a:ext cx="9326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avg_score</a:t>
            </a:r>
            <a:endParaRPr lang="en-US" sz="950" dirty="0"/>
          </a:p>
        </p:txBody>
      </p:sp>
      <p:sp>
        <p:nvSpPr>
          <p:cNvPr id="141" name="Shape 139"/>
          <p:cNvSpPr/>
          <p:nvPr/>
        </p:nvSpPr>
        <p:spPr>
          <a:xfrm>
            <a:off x="9235440" y="3383280"/>
            <a:ext cx="77724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2" name="Text 140"/>
          <p:cNvSpPr/>
          <p:nvPr/>
        </p:nvSpPr>
        <p:spPr>
          <a:xfrm>
            <a:off x="9281160" y="3383280"/>
            <a:ext cx="704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950" dirty="0"/>
          </a:p>
        </p:txBody>
      </p:sp>
      <p:sp>
        <p:nvSpPr>
          <p:cNvPr id="143" name="Shape 141"/>
          <p:cNvSpPr/>
          <p:nvPr/>
        </p:nvSpPr>
        <p:spPr>
          <a:xfrm>
            <a:off x="10012680" y="3383280"/>
            <a:ext cx="1874520" cy="338328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4" name="Text 142"/>
          <p:cNvSpPr/>
          <p:nvPr/>
        </p:nvSpPr>
        <p:spPr>
          <a:xfrm>
            <a:off x="10058400" y="3383280"/>
            <a:ext cx="18013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 percentage</a:t>
            </a:r>
            <a:endParaRPr lang="en-US" sz="950" dirty="0"/>
          </a:p>
        </p:txBody>
      </p:sp>
      <p:sp>
        <p:nvSpPr>
          <p:cNvPr id="145" name="Shape 143"/>
          <p:cNvSpPr/>
          <p:nvPr/>
        </p:nvSpPr>
        <p:spPr>
          <a:xfrm>
            <a:off x="8229600" y="4315968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FFF8E1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6" name="Text 144"/>
          <p:cNvSpPr/>
          <p:nvPr/>
        </p:nvSpPr>
        <p:spPr>
          <a:xfrm>
            <a:off x="8339328" y="4361688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Overall student performance. Powers Progress Tracker.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Reference — 17 Endpoints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5669280" cy="11430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411480" y="10789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 (Public)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408176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/api/registerPOST /api/login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2331720"/>
            <a:ext cx="5669280" cy="1645920"/>
          </a:xfrm>
          <a:prstGeom prst="rect">
            <a:avLst/>
          </a:prstGeom>
          <a:solidFill>
            <a:srgbClr val="D6E4F7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411480" y="240487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Tasks (Auth+Owner)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734056"/>
            <a:ext cx="53949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/api/tasks/:userIdPOST /api/tasks/:userIdPATCH .../toggleDELETE .../taskId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5669280" cy="822960"/>
          </a:xfrm>
          <a:prstGeom prst="rect">
            <a:avLst/>
          </a:prstGeom>
          <a:solidFill>
            <a:srgbClr val="F4F6FA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411480" y="423367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F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Quizzes (Auth)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4562856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/api/quizzes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05840"/>
            <a:ext cx="5669280" cy="1645920"/>
          </a:xfrm>
          <a:prstGeom prst="rect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6400800" y="10789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 (Auth+Owner)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1408176"/>
            <a:ext cx="53949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/api/scores/:userIdGET  /api/progress/:userId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2834640"/>
            <a:ext cx="5669280" cy="2011680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6400800" y="29077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(Admin Role)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3236976"/>
            <a:ext cx="53949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CRUD /api/admin/quizzesCRUD .../questionsGET /admin/usersPATCH toggle-admin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Sequence Diagram — User Login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enters credentials → Express validates → bcrypt.compare → JWT issued → redirect to Dashboard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26169" t="22242" r="5088" b="26119"/>
          <a:stretch>
            <a:fillRect/>
          </a:stretch>
        </p:blipFill>
        <p:spPr>
          <a:xfrm>
            <a:off x="735723" y="1298448"/>
            <a:ext cx="1044728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Sequence Diagram — Taking a Quiz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selects quiz → questions fetched → answers submitted → score calculated → saved to DB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25946" t="19531" r="6093" b="24316"/>
          <a:stretch>
            <a:fillRect/>
          </a:stretch>
        </p:blipFill>
        <p:spPr>
          <a:xfrm>
            <a:off x="283780" y="1298448"/>
            <a:ext cx="109938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 &amp; Middleware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protected route passes through: requireAuth → requireOwner / requireAdmin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727448" y="1024128"/>
            <a:ext cx="2743200" cy="420624"/>
          </a:xfrm>
          <a:prstGeom prst="roundRect">
            <a:avLst>
              <a:gd name="adj" fmla="val 50000"/>
            </a:avLst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4727448" y="1069848"/>
            <a:ext cx="27432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99048" y="1444752"/>
            <a:ext cx="9144" cy="338328"/>
          </a:xfrm>
          <a:prstGeom prst="line">
            <a:avLst/>
          </a:prstGeom>
          <a:noFill/>
          <a:ln w="12700">
            <a:solidFill>
              <a:srgbClr val="1E4D8C"/>
            </a:solidFill>
            <a:prstDash val="solid"/>
            <a:tailEnd type="arrow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4498848" y="1783080"/>
            <a:ext cx="3200400" cy="822960"/>
          </a:xfrm>
          <a:prstGeom prst="diamond">
            <a:avLst/>
          </a:prstGeom>
          <a:solidFill>
            <a:srgbClr val="2E6FBF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4498848" y="17830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699248" y="2194560"/>
            <a:ext cx="621792" cy="9144"/>
          </a:xfrm>
          <a:prstGeom prst="line">
            <a:avLst/>
          </a:prstGeom>
          <a:noFill/>
          <a:ln w="12700">
            <a:solidFill>
              <a:srgbClr val="991B1B"/>
            </a:solidFill>
            <a:prstDash val="solid"/>
            <a:tailEnd type="arrow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7699248" y="1938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321040" y="1874520"/>
            <a:ext cx="2560320" cy="594360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8321040" y="18745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Unauthorized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99048" y="2606040"/>
            <a:ext cx="9144" cy="338328"/>
          </a:xfrm>
          <a:prstGeom prst="line">
            <a:avLst/>
          </a:prstGeom>
          <a:noFill/>
          <a:ln w="12700">
            <a:solidFill>
              <a:srgbClr val="1E4D8C"/>
            </a:solidFill>
            <a:prstDash val="solid"/>
            <a:tailEnd type="arrow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6199632" y="248716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27448" y="2944368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4727448" y="294436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jwt.verify(token)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99048" y="3511296"/>
            <a:ext cx="9144" cy="329184"/>
          </a:xfrm>
          <a:prstGeom prst="line">
            <a:avLst/>
          </a:prstGeom>
          <a:noFill/>
          <a:ln w="12700">
            <a:solidFill>
              <a:srgbClr val="1E4D8C"/>
            </a:solidFill>
            <a:prstDash val="solid"/>
            <a:tailEnd type="arrow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4498848" y="3840480"/>
            <a:ext cx="3200400" cy="822960"/>
          </a:xfrm>
          <a:prstGeom prst="diamond">
            <a:avLst/>
          </a:prstGeom>
          <a:solidFill>
            <a:srgbClr val="2E6FBF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4498848" y="38404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valid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not expired?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99248" y="4251960"/>
            <a:ext cx="621792" cy="9144"/>
          </a:xfrm>
          <a:prstGeom prst="line">
            <a:avLst/>
          </a:prstGeom>
          <a:noFill/>
          <a:ln w="12700">
            <a:solidFill>
              <a:srgbClr val="991B1B"/>
            </a:solidFill>
            <a:prstDash val="solid"/>
            <a:tailEnd type="arrow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7699248" y="4005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321040" y="3931920"/>
            <a:ext cx="2560320" cy="594360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8321040" y="39319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Invalid Token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99048" y="4663440"/>
            <a:ext cx="9144" cy="347472"/>
          </a:xfrm>
          <a:prstGeom prst="line">
            <a:avLst/>
          </a:prstGeom>
          <a:noFill/>
          <a:ln w="12700">
            <a:solidFill>
              <a:srgbClr val="1E4D8C"/>
            </a:solidFill>
            <a:prstDash val="solid"/>
            <a:tailEnd type="arrow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6199632" y="454456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27448" y="5010912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4727448" y="50109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req.user = decoded payload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99048" y="5513832"/>
            <a:ext cx="9144" cy="292608"/>
          </a:xfrm>
          <a:prstGeom prst="line">
            <a:avLst/>
          </a:prstGeom>
          <a:noFill/>
          <a:ln w="12700">
            <a:solidFill>
              <a:srgbClr val="1E4D8C"/>
            </a:solidFill>
            <a:prstDash val="solid"/>
            <a:tailEnd type="arrow"/>
          </a:ln>
        </p:spPr>
        <p:txBody>
          <a:bodyPr/>
          <a:lstStyle/>
          <a:p>
            <a:endParaRPr lang="en-KR"/>
          </a:p>
        </p:txBody>
      </p:sp>
      <p:sp>
        <p:nvSpPr>
          <p:cNvPr id="29" name="Shape 27"/>
          <p:cNvSpPr/>
          <p:nvPr/>
        </p:nvSpPr>
        <p:spPr>
          <a:xfrm>
            <a:off x="4727448" y="5806440"/>
            <a:ext cx="2743200" cy="530352"/>
          </a:xfrm>
          <a:prstGeom prst="roundRect">
            <a:avLst>
              <a:gd name="adj" fmla="val 50000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4727448" y="580644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Route Handler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03920" y="51663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Component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 tree · arrows show render/composition direction · Context available everywhere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56048" y="1005840"/>
            <a:ext cx="2286000" cy="402336"/>
          </a:xfrm>
          <a:prstGeom prst="roundRect">
            <a:avLst>
              <a:gd name="adj" fmla="val 16129"/>
            </a:avLst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4928826" y="925373"/>
            <a:ext cx="2286000" cy="3118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56048" y="1153058"/>
            <a:ext cx="2286000" cy="255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+ AuthProvider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315968" y="1719072"/>
            <a:ext cx="3566160" cy="548640"/>
          </a:xfrm>
          <a:prstGeom prst="roundRect">
            <a:avLst>
              <a:gd name="adj" fmla="val 16667"/>
            </a:avLst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4315968" y="1719072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AuthProvider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15968" y="2020824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useAuth() — global user state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99048" y="1408176"/>
            <a:ext cx="9144" cy="310896"/>
          </a:xfrm>
          <a:prstGeom prst="line">
            <a:avLst/>
          </a:prstGeom>
          <a:noFill/>
          <a:ln w="12700">
            <a:solidFill>
              <a:srgbClr val="1E4D8C"/>
            </a:solidFill>
            <a:prstDash val="solid"/>
            <a:tailEnd type="arrow"/>
          </a:ln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4315968" y="2542032"/>
            <a:ext cx="3566160" cy="548640"/>
          </a:xfrm>
          <a:prstGeom prst="roundRect">
            <a:avLst>
              <a:gd name="adj" fmla="val 16667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4315968" y="2542032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BrowserRouter + Routes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15968" y="2843784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navigation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99048" y="2267712"/>
            <a:ext cx="9144" cy="274320"/>
          </a:xfrm>
          <a:prstGeom prst="line">
            <a:avLst/>
          </a:prstGeom>
          <a:noFill/>
          <a:ln w="12700">
            <a:solidFill>
              <a:srgbClr val="166534"/>
            </a:solidFill>
            <a:prstDash val="solid"/>
            <a:tailEnd type="arrow"/>
          </a:ln>
        </p:spPr>
        <p:txBody>
          <a:bodyPr/>
          <a:lstStyle/>
          <a:p>
            <a:endParaRPr lang="en-KR"/>
          </a:p>
        </p:txBody>
      </p:sp>
      <p:sp>
        <p:nvSpPr>
          <p:cNvPr id="15" name="Shape 13"/>
          <p:cNvSpPr/>
          <p:nvPr/>
        </p:nvSpPr>
        <p:spPr>
          <a:xfrm>
            <a:off x="6099048" y="3090672"/>
            <a:ext cx="9144" cy="292608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arrow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2560320" y="3383280"/>
            <a:ext cx="7040880" cy="420624"/>
          </a:xfrm>
          <a:prstGeom prst="roundRect">
            <a:avLst>
              <a:gd name="adj" fmla="val 17391"/>
            </a:avLst>
          </a:prstGeom>
          <a:solidFill>
            <a:srgbClr val="FFF8E1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2651760" y="3383280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ProtectedRoute  (checks auth / admin role)  wraps all pages below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977640"/>
            <a:ext cx="1325880" cy="621792"/>
          </a:xfrm>
          <a:prstGeom prst="roundRect">
            <a:avLst>
              <a:gd name="adj" fmla="val 14706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274320" y="3977640"/>
            <a:ext cx="1325880" cy="3419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319626"/>
            <a:ext cx="1325880" cy="2798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32688" y="3803904"/>
            <a:ext cx="9144" cy="173736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arrow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1737360" y="3977640"/>
            <a:ext cx="1325880" cy="621792"/>
          </a:xfrm>
          <a:prstGeom prst="roundRect">
            <a:avLst>
              <a:gd name="adj" fmla="val 14706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737360" y="3977640"/>
            <a:ext cx="1325880" cy="3419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37360" y="4319626"/>
            <a:ext cx="1325880" cy="2798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395728" y="3803904"/>
            <a:ext cx="9144" cy="173736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arrow"/>
          </a:ln>
        </p:spPr>
        <p:txBody>
          <a:bodyPr/>
          <a:lstStyle/>
          <a:p>
            <a:endParaRPr lang="en-KR"/>
          </a:p>
        </p:txBody>
      </p:sp>
      <p:sp>
        <p:nvSpPr>
          <p:cNvPr id="26" name="Shape 24"/>
          <p:cNvSpPr/>
          <p:nvPr/>
        </p:nvSpPr>
        <p:spPr>
          <a:xfrm>
            <a:off x="3200400" y="3977640"/>
            <a:ext cx="1325880" cy="621792"/>
          </a:xfrm>
          <a:prstGeom prst="roundRect">
            <a:avLst>
              <a:gd name="adj" fmla="val 14706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3200400" y="3977640"/>
            <a:ext cx="1325880" cy="3419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0" y="4319626"/>
            <a:ext cx="1325880" cy="2798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58768" y="3803904"/>
            <a:ext cx="9144" cy="173736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arrow"/>
          </a:ln>
        </p:spPr>
        <p:txBody>
          <a:bodyPr/>
          <a:lstStyle/>
          <a:p>
            <a:endParaRPr lang="en-KR"/>
          </a:p>
        </p:txBody>
      </p:sp>
      <p:sp>
        <p:nvSpPr>
          <p:cNvPr id="30" name="Shape 28"/>
          <p:cNvSpPr/>
          <p:nvPr/>
        </p:nvSpPr>
        <p:spPr>
          <a:xfrm>
            <a:off x="4663440" y="3977640"/>
            <a:ext cx="1325880" cy="621792"/>
          </a:xfrm>
          <a:prstGeom prst="roundRect">
            <a:avLst>
              <a:gd name="adj" fmla="val 14706"/>
            </a:avLst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4663440" y="3977640"/>
            <a:ext cx="1325880" cy="3419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63440" y="4319626"/>
            <a:ext cx="1325880" cy="2798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21808" y="3803904"/>
            <a:ext cx="9144" cy="173736"/>
          </a:xfrm>
          <a:prstGeom prst="line">
            <a:avLst/>
          </a:prstGeom>
          <a:noFill/>
          <a:ln w="12700">
            <a:solidFill>
              <a:srgbClr val="1E4D8C"/>
            </a:solidFill>
            <a:prstDash val="solid"/>
            <a:tailEnd type="arrow"/>
          </a:ln>
        </p:spPr>
        <p:txBody>
          <a:bodyPr/>
          <a:lstStyle/>
          <a:p>
            <a:endParaRPr lang="en-KR"/>
          </a:p>
        </p:txBody>
      </p:sp>
      <p:sp>
        <p:nvSpPr>
          <p:cNvPr id="34" name="Shape 32"/>
          <p:cNvSpPr/>
          <p:nvPr/>
        </p:nvSpPr>
        <p:spPr>
          <a:xfrm>
            <a:off x="6126480" y="3977640"/>
            <a:ext cx="1325880" cy="621792"/>
          </a:xfrm>
          <a:prstGeom prst="roundRect">
            <a:avLst>
              <a:gd name="adj" fmla="val 14706"/>
            </a:avLst>
          </a:prstGeom>
          <a:solidFill>
            <a:srgbClr val="2E6FBF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6126480" y="3977640"/>
            <a:ext cx="1325880" cy="3419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26480" y="4319626"/>
            <a:ext cx="1325880" cy="2798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784848" y="3803904"/>
            <a:ext cx="9144" cy="173736"/>
          </a:xfrm>
          <a:prstGeom prst="line">
            <a:avLst/>
          </a:prstGeom>
          <a:noFill/>
          <a:ln w="12700">
            <a:solidFill>
              <a:srgbClr val="1E4D8C"/>
            </a:solidFill>
            <a:prstDash val="solid"/>
            <a:tailEnd type="arrow"/>
          </a:ln>
        </p:spPr>
        <p:txBody>
          <a:bodyPr/>
          <a:lstStyle/>
          <a:p>
            <a:endParaRPr lang="en-KR"/>
          </a:p>
        </p:txBody>
      </p:sp>
      <p:sp>
        <p:nvSpPr>
          <p:cNvPr id="38" name="Shape 36"/>
          <p:cNvSpPr/>
          <p:nvPr/>
        </p:nvSpPr>
        <p:spPr>
          <a:xfrm>
            <a:off x="7589520" y="3977640"/>
            <a:ext cx="1325880" cy="621792"/>
          </a:xfrm>
          <a:prstGeom prst="roundRect">
            <a:avLst>
              <a:gd name="adj" fmla="val 14706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7589520" y="3977640"/>
            <a:ext cx="1325880" cy="3419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589520" y="4319626"/>
            <a:ext cx="1325880" cy="2798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247888" y="3803904"/>
            <a:ext cx="9144" cy="173736"/>
          </a:xfrm>
          <a:prstGeom prst="line">
            <a:avLst/>
          </a:prstGeom>
          <a:noFill/>
          <a:ln w="12700">
            <a:solidFill>
              <a:srgbClr val="1E4D8C"/>
            </a:solidFill>
            <a:prstDash val="solid"/>
            <a:tailEnd type="arrow"/>
          </a:ln>
        </p:spPr>
        <p:txBody>
          <a:bodyPr/>
          <a:lstStyle/>
          <a:p>
            <a:endParaRPr lang="en-KR"/>
          </a:p>
        </p:txBody>
      </p:sp>
      <p:sp>
        <p:nvSpPr>
          <p:cNvPr id="42" name="Shape 40"/>
          <p:cNvSpPr/>
          <p:nvPr/>
        </p:nvSpPr>
        <p:spPr>
          <a:xfrm>
            <a:off x="9052560" y="3977640"/>
            <a:ext cx="1325880" cy="621792"/>
          </a:xfrm>
          <a:prstGeom prst="roundRect">
            <a:avLst>
              <a:gd name="adj" fmla="val 14706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9052560" y="3977640"/>
            <a:ext cx="1325880" cy="3419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052560" y="4319626"/>
            <a:ext cx="1325880" cy="2798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710928" y="3803904"/>
            <a:ext cx="9144" cy="173736"/>
          </a:xfrm>
          <a:prstGeom prst="line">
            <a:avLst/>
          </a:prstGeom>
          <a:noFill/>
          <a:ln w="12700">
            <a:solidFill>
              <a:srgbClr val="1E4D8C"/>
            </a:solidFill>
            <a:prstDash val="solid"/>
            <a:tailEnd type="arrow"/>
          </a:ln>
        </p:spPr>
        <p:txBody>
          <a:bodyPr/>
          <a:lstStyle/>
          <a:p>
            <a:endParaRPr lang="en-KR"/>
          </a:p>
        </p:txBody>
      </p:sp>
      <p:sp>
        <p:nvSpPr>
          <p:cNvPr id="46" name="Shape 44"/>
          <p:cNvSpPr/>
          <p:nvPr/>
        </p:nvSpPr>
        <p:spPr>
          <a:xfrm>
            <a:off x="10515600" y="3977640"/>
            <a:ext cx="1325880" cy="621792"/>
          </a:xfrm>
          <a:prstGeom prst="roundRect">
            <a:avLst>
              <a:gd name="adj" fmla="val 14706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7" name="Text 45"/>
          <p:cNvSpPr/>
          <p:nvPr/>
        </p:nvSpPr>
        <p:spPr>
          <a:xfrm>
            <a:off x="10515600" y="3977640"/>
            <a:ext cx="1325880" cy="3419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0515600" y="4319626"/>
            <a:ext cx="1325880" cy="2798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1173968" y="3803904"/>
            <a:ext cx="9144" cy="173736"/>
          </a:xfrm>
          <a:prstGeom prst="line">
            <a:avLst/>
          </a:prstGeom>
          <a:noFill/>
          <a:ln w="12700">
            <a:solidFill>
              <a:srgbClr val="1E4D8C"/>
            </a:solidFill>
            <a:prstDash val="solid"/>
            <a:tailEnd type="arrow"/>
          </a:ln>
        </p:spPr>
        <p:txBody>
          <a:bodyPr/>
          <a:lstStyle/>
          <a:p>
            <a:endParaRPr lang="en-KR"/>
          </a:p>
        </p:txBody>
      </p:sp>
      <p:sp>
        <p:nvSpPr>
          <p:cNvPr id="50" name="Shape 48"/>
          <p:cNvSpPr/>
          <p:nvPr/>
        </p:nvSpPr>
        <p:spPr>
          <a:xfrm>
            <a:off x="274320" y="4956048"/>
            <a:ext cx="3657600" cy="1691640"/>
          </a:xfrm>
          <a:prstGeom prst="roundRect">
            <a:avLst>
              <a:gd name="adj" fmla="val 5405"/>
            </a:avLst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1" name="Shape 49"/>
          <p:cNvSpPr/>
          <p:nvPr/>
        </p:nvSpPr>
        <p:spPr>
          <a:xfrm>
            <a:off x="274320" y="4956048"/>
            <a:ext cx="3657600" cy="347472"/>
          </a:xfrm>
          <a:prstGeom prst="rect">
            <a:avLst/>
          </a:prstGeom>
          <a:solidFill>
            <a:srgbClr val="2E6FBF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2" name="Text 50"/>
          <p:cNvSpPr/>
          <p:nvPr/>
        </p:nvSpPr>
        <p:spPr>
          <a:xfrm>
            <a:off x="365760" y="49560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Components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11480" y="5358384"/>
            <a:ext cx="338328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Navbar.jsx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ProtectedRoute.jsx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StudyIllustration.jsx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251960" y="4956048"/>
            <a:ext cx="3657600" cy="1691640"/>
          </a:xfrm>
          <a:prstGeom prst="roundRect">
            <a:avLst>
              <a:gd name="adj" fmla="val 5405"/>
            </a:avLst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5" name="Shape 53"/>
          <p:cNvSpPr/>
          <p:nvPr/>
        </p:nvSpPr>
        <p:spPr>
          <a:xfrm>
            <a:off x="4251960" y="4956048"/>
            <a:ext cx="3657600" cy="347472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6" name="Text 54"/>
          <p:cNvSpPr/>
          <p:nvPr/>
        </p:nvSpPr>
        <p:spPr>
          <a:xfrm>
            <a:off x="4343400" y="49560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API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389120" y="5358384"/>
            <a:ext cx="338328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AuthContext.jsx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backend.js (API calls)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quizzes.js (seed data)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229600" y="4956048"/>
            <a:ext cx="3657600" cy="1691640"/>
          </a:xfrm>
          <a:prstGeom prst="roundRect">
            <a:avLst>
              <a:gd name="adj" fmla="val 5405"/>
            </a:avLst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9" name="Shape 57"/>
          <p:cNvSpPr/>
          <p:nvPr/>
        </p:nvSpPr>
        <p:spPr>
          <a:xfrm>
            <a:off x="8229600" y="4956048"/>
            <a:ext cx="3657600" cy="34747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0" name="Text 58"/>
          <p:cNvSpPr/>
          <p:nvPr/>
        </p:nvSpPr>
        <p:spPr>
          <a:xfrm>
            <a:off x="8321040" y="49560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366760" y="5358384"/>
            <a:ext cx="338328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index.css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 custom properties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responsive design vars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02920" y="4599432"/>
            <a:ext cx="731520" cy="356616"/>
          </a:xfrm>
          <a:prstGeom prst="line">
            <a:avLst/>
          </a:prstGeom>
          <a:noFill/>
          <a:ln w="12700">
            <a:solidFill>
              <a:srgbClr val="D6E4F7"/>
            </a:solidFill>
            <a:prstDash val="solid"/>
            <a:tailEnd type="arrow"/>
          </a:ln>
        </p:spPr>
        <p:txBody>
          <a:bodyPr/>
          <a:lstStyle/>
          <a:p>
            <a:endParaRPr lang="en-KR"/>
          </a:p>
        </p:txBody>
      </p:sp>
      <p:sp>
        <p:nvSpPr>
          <p:cNvPr id="63" name="Shape 61"/>
          <p:cNvSpPr/>
          <p:nvPr/>
        </p:nvSpPr>
        <p:spPr>
          <a:xfrm>
            <a:off x="6099048" y="4599432"/>
            <a:ext cx="9144" cy="356616"/>
          </a:xfrm>
          <a:prstGeom prst="line">
            <a:avLst/>
          </a:prstGeom>
          <a:noFill/>
          <a:ln w="12700">
            <a:solidFill>
              <a:srgbClr val="D6E4F7"/>
            </a:solidFill>
            <a:prstDash val="solid"/>
            <a:tailEnd type="arrow"/>
          </a:ln>
        </p:spPr>
        <p:txBody>
          <a:bodyPr/>
          <a:lstStyle/>
          <a:p>
            <a:endParaRPr lang="en-KR"/>
          </a:p>
        </p:txBody>
      </p:sp>
      <p:sp>
        <p:nvSpPr>
          <p:cNvPr id="64" name="Shape 62"/>
          <p:cNvSpPr/>
          <p:nvPr/>
        </p:nvSpPr>
        <p:spPr>
          <a:xfrm>
            <a:off x="10378440" y="4599432"/>
            <a:ext cx="137160" cy="356616"/>
          </a:xfrm>
          <a:prstGeom prst="line">
            <a:avLst/>
          </a:prstGeom>
          <a:noFill/>
          <a:ln w="12700">
            <a:solidFill>
              <a:srgbClr val="D6E4F7"/>
            </a:solidFill>
            <a:prstDash val="solid"/>
            <a:tailEnd type="arrow"/>
          </a:ln>
        </p:spPr>
        <p:txBody>
          <a:bodyPr/>
          <a:lstStyle/>
          <a:p>
            <a:endParaRPr lang="en-K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Request Flow Diagram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Swimlane: Browser → Vite Proxy → Express API → PostgreSQL → response back to UI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005840"/>
            <a:ext cx="2560320" cy="347472"/>
          </a:xfrm>
          <a:prstGeom prst="rect">
            <a:avLst/>
          </a:prstGeom>
          <a:solidFill>
            <a:srgbClr val="2E6FBF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822960" y="102412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(React)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03120" y="1353312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2103120" y="1828800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2103120" y="2304288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2103120" y="2779776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2103120" y="3255264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2103120" y="3730752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2103120" y="4206240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Shape 11"/>
          <p:cNvSpPr/>
          <p:nvPr/>
        </p:nvSpPr>
        <p:spPr>
          <a:xfrm>
            <a:off x="2103120" y="4681728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2103120" y="5157216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Shape 13"/>
          <p:cNvSpPr/>
          <p:nvPr/>
        </p:nvSpPr>
        <p:spPr>
          <a:xfrm>
            <a:off x="2103120" y="5632704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2103120" y="6108192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3566160" y="1024128"/>
            <a:ext cx="2615184" cy="32918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3566160" y="91440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Dev Server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1353312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4846320" y="1828800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4846320" y="2304288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4846320" y="2779776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>
            <a:off x="4846320" y="3255264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>
            <a:off x="4846320" y="3730752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4846320" y="4206240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Shape 24"/>
          <p:cNvSpPr/>
          <p:nvPr/>
        </p:nvSpPr>
        <p:spPr>
          <a:xfrm>
            <a:off x="4846320" y="4681728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4846320" y="5157216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Shape 26"/>
          <p:cNvSpPr/>
          <p:nvPr/>
        </p:nvSpPr>
        <p:spPr>
          <a:xfrm>
            <a:off x="4846320" y="5632704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Shape 27"/>
          <p:cNvSpPr/>
          <p:nvPr/>
        </p:nvSpPr>
        <p:spPr>
          <a:xfrm>
            <a:off x="4846320" y="6108192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Shape 28"/>
          <p:cNvSpPr/>
          <p:nvPr/>
        </p:nvSpPr>
        <p:spPr>
          <a:xfrm>
            <a:off x="6400800" y="1024128"/>
            <a:ext cx="2578608" cy="329184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6400800" y="91440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680960" y="1353312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Shape 31"/>
          <p:cNvSpPr/>
          <p:nvPr/>
        </p:nvSpPr>
        <p:spPr>
          <a:xfrm>
            <a:off x="7680960" y="1828800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Shape 32"/>
          <p:cNvSpPr/>
          <p:nvPr/>
        </p:nvSpPr>
        <p:spPr>
          <a:xfrm>
            <a:off x="7680960" y="2304288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Shape 33"/>
          <p:cNvSpPr/>
          <p:nvPr/>
        </p:nvSpPr>
        <p:spPr>
          <a:xfrm>
            <a:off x="7680960" y="2779776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Shape 34"/>
          <p:cNvSpPr/>
          <p:nvPr/>
        </p:nvSpPr>
        <p:spPr>
          <a:xfrm>
            <a:off x="7680960" y="3255264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Shape 35"/>
          <p:cNvSpPr/>
          <p:nvPr/>
        </p:nvSpPr>
        <p:spPr>
          <a:xfrm>
            <a:off x="7680960" y="3730752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Shape 36"/>
          <p:cNvSpPr/>
          <p:nvPr/>
        </p:nvSpPr>
        <p:spPr>
          <a:xfrm>
            <a:off x="7680960" y="4206240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Shape 37"/>
          <p:cNvSpPr/>
          <p:nvPr/>
        </p:nvSpPr>
        <p:spPr>
          <a:xfrm>
            <a:off x="7680960" y="4681728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Shape 38"/>
          <p:cNvSpPr/>
          <p:nvPr/>
        </p:nvSpPr>
        <p:spPr>
          <a:xfrm>
            <a:off x="7680960" y="5157216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1" name="Shape 39"/>
          <p:cNvSpPr/>
          <p:nvPr/>
        </p:nvSpPr>
        <p:spPr>
          <a:xfrm>
            <a:off x="7680960" y="5632704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Shape 40"/>
          <p:cNvSpPr/>
          <p:nvPr/>
        </p:nvSpPr>
        <p:spPr>
          <a:xfrm>
            <a:off x="7680960" y="6108192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9235440" y="1024128"/>
            <a:ext cx="2615184" cy="32918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9235440" y="91440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0515600" y="1353312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Shape 44"/>
          <p:cNvSpPr/>
          <p:nvPr/>
        </p:nvSpPr>
        <p:spPr>
          <a:xfrm>
            <a:off x="10515600" y="1828800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7" name="Shape 45"/>
          <p:cNvSpPr/>
          <p:nvPr/>
        </p:nvSpPr>
        <p:spPr>
          <a:xfrm>
            <a:off x="10515600" y="2304288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8" name="Shape 46"/>
          <p:cNvSpPr/>
          <p:nvPr/>
        </p:nvSpPr>
        <p:spPr>
          <a:xfrm>
            <a:off x="10515600" y="2779776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9" name="Shape 47"/>
          <p:cNvSpPr/>
          <p:nvPr/>
        </p:nvSpPr>
        <p:spPr>
          <a:xfrm>
            <a:off x="10515600" y="3255264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0" name="Shape 48"/>
          <p:cNvSpPr/>
          <p:nvPr/>
        </p:nvSpPr>
        <p:spPr>
          <a:xfrm>
            <a:off x="10515600" y="3730752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1" name="Shape 49"/>
          <p:cNvSpPr/>
          <p:nvPr/>
        </p:nvSpPr>
        <p:spPr>
          <a:xfrm>
            <a:off x="10515600" y="4206240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2" name="Shape 50"/>
          <p:cNvSpPr/>
          <p:nvPr/>
        </p:nvSpPr>
        <p:spPr>
          <a:xfrm>
            <a:off x="10515600" y="4681728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3" name="Shape 51"/>
          <p:cNvSpPr/>
          <p:nvPr/>
        </p:nvSpPr>
        <p:spPr>
          <a:xfrm>
            <a:off x="10515600" y="5157216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4" name="Shape 52"/>
          <p:cNvSpPr/>
          <p:nvPr/>
        </p:nvSpPr>
        <p:spPr>
          <a:xfrm>
            <a:off x="10515600" y="5632704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5" name="Shape 53"/>
          <p:cNvSpPr/>
          <p:nvPr/>
        </p:nvSpPr>
        <p:spPr>
          <a:xfrm>
            <a:off x="10515600" y="6108192"/>
            <a:ext cx="36576" cy="32918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6" name="Shape 54"/>
          <p:cNvSpPr/>
          <p:nvPr/>
        </p:nvSpPr>
        <p:spPr>
          <a:xfrm>
            <a:off x="822960" y="1572768"/>
            <a:ext cx="2651760" cy="402336"/>
          </a:xfrm>
          <a:prstGeom prst="roundRect">
            <a:avLst>
              <a:gd name="adj" fmla="val 18182"/>
            </a:avLst>
          </a:prstGeom>
          <a:solidFill>
            <a:srgbClr val="D6E4F7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7" name="Text 55"/>
          <p:cNvSpPr/>
          <p:nvPr/>
        </p:nvSpPr>
        <p:spPr>
          <a:xfrm>
            <a:off x="822960" y="157276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action (e.g. Add Task)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148840" y="1975104"/>
            <a:ext cx="2743200" cy="73152"/>
          </a:xfrm>
          <a:prstGeom prst="line">
            <a:avLst/>
          </a:prstGeom>
          <a:noFill/>
          <a:ln w="12700">
            <a:solidFill>
              <a:srgbClr val="2E6FBF"/>
            </a:solidFill>
            <a:prstDash val="solid"/>
            <a:tailEnd type="arrow"/>
          </a:ln>
        </p:spPr>
        <p:txBody>
          <a:bodyPr/>
          <a:lstStyle/>
          <a:p>
            <a:endParaRPr lang="en-KR"/>
          </a:p>
        </p:txBody>
      </p:sp>
      <p:sp>
        <p:nvSpPr>
          <p:cNvPr id="59" name="Shape 57"/>
          <p:cNvSpPr/>
          <p:nvPr/>
        </p:nvSpPr>
        <p:spPr>
          <a:xfrm>
            <a:off x="3566160" y="2048256"/>
            <a:ext cx="2651760" cy="402336"/>
          </a:xfrm>
          <a:prstGeom prst="roundRect">
            <a:avLst>
              <a:gd name="adj" fmla="val 18182"/>
            </a:avLst>
          </a:prstGeom>
          <a:solidFill>
            <a:srgbClr val="F4F6FA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0" name="Text 58"/>
          <p:cNvSpPr/>
          <p:nvPr/>
        </p:nvSpPr>
        <p:spPr>
          <a:xfrm>
            <a:off x="3566160" y="204825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Proxy /api/* → port 4000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892040" y="2450592"/>
            <a:ext cx="2834640" cy="73152"/>
          </a:xfrm>
          <a:prstGeom prst="line">
            <a:avLst/>
          </a:prstGeom>
          <a:noFill/>
          <a:ln w="12700">
            <a:solidFill>
              <a:srgbClr val="2E6FBF"/>
            </a:solidFill>
            <a:prstDash val="solid"/>
            <a:tailEnd type="arrow"/>
          </a:ln>
        </p:spPr>
        <p:txBody>
          <a:bodyPr/>
          <a:lstStyle/>
          <a:p>
            <a:endParaRPr lang="en-KR"/>
          </a:p>
        </p:txBody>
      </p:sp>
      <p:sp>
        <p:nvSpPr>
          <p:cNvPr id="62" name="Shape 60"/>
          <p:cNvSpPr/>
          <p:nvPr/>
        </p:nvSpPr>
        <p:spPr>
          <a:xfrm>
            <a:off x="6400800" y="2523744"/>
            <a:ext cx="2651760" cy="402336"/>
          </a:xfrm>
          <a:prstGeom prst="roundRect">
            <a:avLst>
              <a:gd name="adj" fmla="val 18182"/>
            </a:avLst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3" name="Text 61"/>
          <p:cNvSpPr/>
          <p:nvPr/>
        </p:nvSpPr>
        <p:spPr>
          <a:xfrm>
            <a:off x="6400800" y="252374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requireAuth (verify JWT)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726680" y="2926080"/>
            <a:ext cx="9144" cy="73152"/>
          </a:xfrm>
          <a:prstGeom prst="line">
            <a:avLst/>
          </a:prstGeom>
          <a:noFill/>
          <a:ln w="12700">
            <a:solidFill>
              <a:srgbClr val="2E6FBF"/>
            </a:solidFill>
            <a:prstDash val="solid"/>
            <a:tailEnd type="arrow"/>
          </a:ln>
        </p:spPr>
        <p:txBody>
          <a:bodyPr/>
          <a:lstStyle/>
          <a:p>
            <a:endParaRPr lang="en-KR"/>
          </a:p>
        </p:txBody>
      </p:sp>
      <p:sp>
        <p:nvSpPr>
          <p:cNvPr id="65" name="Shape 63"/>
          <p:cNvSpPr/>
          <p:nvPr/>
        </p:nvSpPr>
        <p:spPr>
          <a:xfrm>
            <a:off x="6400800" y="2999232"/>
            <a:ext cx="2651760" cy="402336"/>
          </a:xfrm>
          <a:prstGeom prst="roundRect">
            <a:avLst>
              <a:gd name="adj" fmla="val 18182"/>
            </a:avLst>
          </a:prstGeom>
          <a:solidFill>
            <a:srgbClr val="2E6FBF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6" name="Text 64"/>
          <p:cNvSpPr/>
          <p:nvPr/>
        </p:nvSpPr>
        <p:spPr>
          <a:xfrm>
            <a:off x="6400800" y="299923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requireOwner (check userId)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7726680" y="3401568"/>
            <a:ext cx="2834640" cy="73152"/>
          </a:xfrm>
          <a:prstGeom prst="line">
            <a:avLst/>
          </a:prstGeom>
          <a:noFill/>
          <a:ln w="12700">
            <a:solidFill>
              <a:srgbClr val="2E6FBF"/>
            </a:solidFill>
            <a:prstDash val="solid"/>
            <a:tailEnd type="arrow"/>
          </a:ln>
        </p:spPr>
        <p:txBody>
          <a:bodyPr/>
          <a:lstStyle/>
          <a:p>
            <a:endParaRPr lang="en-KR"/>
          </a:p>
        </p:txBody>
      </p:sp>
      <p:sp>
        <p:nvSpPr>
          <p:cNvPr id="68" name="Shape 66"/>
          <p:cNvSpPr/>
          <p:nvPr/>
        </p:nvSpPr>
        <p:spPr>
          <a:xfrm>
            <a:off x="9235440" y="3474720"/>
            <a:ext cx="2651760" cy="402336"/>
          </a:xfrm>
          <a:prstGeom prst="roundRect">
            <a:avLst>
              <a:gd name="adj" fmla="val 18182"/>
            </a:avLst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9" name="Text 67"/>
          <p:cNvSpPr/>
          <p:nvPr/>
        </p:nvSpPr>
        <p:spPr>
          <a:xfrm>
            <a:off x="9235440" y="347472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SQL parameterised query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7726680" y="3877056"/>
            <a:ext cx="2834640" cy="73152"/>
          </a:xfrm>
          <a:prstGeom prst="line">
            <a:avLst/>
          </a:prstGeom>
          <a:noFill/>
          <a:ln w="12700">
            <a:solidFill>
              <a:srgbClr val="2E6FBF"/>
            </a:solidFill>
            <a:prstDash val="solid"/>
            <a:tailEnd type="arrow"/>
          </a:ln>
        </p:spPr>
        <p:txBody>
          <a:bodyPr/>
          <a:lstStyle/>
          <a:p>
            <a:endParaRPr lang="en-KR"/>
          </a:p>
        </p:txBody>
      </p:sp>
      <p:sp>
        <p:nvSpPr>
          <p:cNvPr id="71" name="Shape 69"/>
          <p:cNvSpPr/>
          <p:nvPr/>
        </p:nvSpPr>
        <p:spPr>
          <a:xfrm>
            <a:off x="6400800" y="3950208"/>
            <a:ext cx="2651760" cy="402336"/>
          </a:xfrm>
          <a:prstGeom prst="roundRect">
            <a:avLst>
              <a:gd name="adj" fmla="val 18182"/>
            </a:avLst>
          </a:prstGeom>
          <a:solidFill>
            <a:srgbClr val="D6E4F7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2" name="Text 70"/>
          <p:cNvSpPr/>
          <p:nvPr/>
        </p:nvSpPr>
        <p:spPr>
          <a:xfrm>
            <a:off x="6400800" y="395020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JSON { ok: true, task }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2148840" y="4352544"/>
            <a:ext cx="5577840" cy="73152"/>
          </a:xfrm>
          <a:prstGeom prst="line">
            <a:avLst/>
          </a:prstGeom>
          <a:noFill/>
          <a:ln w="12700">
            <a:solidFill>
              <a:srgbClr val="2E6FBF"/>
            </a:solidFill>
            <a:prstDash val="solid"/>
            <a:tailEnd type="arrow"/>
          </a:ln>
        </p:spPr>
        <p:txBody>
          <a:bodyPr/>
          <a:lstStyle/>
          <a:p>
            <a:endParaRPr lang="en-KR"/>
          </a:p>
        </p:txBody>
      </p:sp>
      <p:sp>
        <p:nvSpPr>
          <p:cNvPr id="74" name="Shape 72"/>
          <p:cNvSpPr/>
          <p:nvPr/>
        </p:nvSpPr>
        <p:spPr>
          <a:xfrm>
            <a:off x="822960" y="4425696"/>
            <a:ext cx="2651760" cy="402336"/>
          </a:xfrm>
          <a:prstGeom prst="roundRect">
            <a:avLst>
              <a:gd name="adj" fmla="val 18182"/>
            </a:avLst>
          </a:prstGeom>
          <a:solidFill>
            <a:srgbClr val="D6E4F7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5" name="Text 73"/>
          <p:cNvSpPr/>
          <p:nvPr/>
        </p:nvSpPr>
        <p:spPr>
          <a:xfrm>
            <a:off x="822960" y="442569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React state updates — UI re-renders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Requirements — FR-1 to FR-6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005840" cy="150876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1005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17320" y="111556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Registration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499616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student signs up with name, email and password. System validates and creates their account.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005840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6172200" y="1005840"/>
            <a:ext cx="1005840" cy="150876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6172200" y="1005840"/>
            <a:ext cx="1005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269480" y="111556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Login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69480" y="1499616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students and admins log in using email and password and are redirected to their dashboard.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697480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320040" y="2697480"/>
            <a:ext cx="1005840" cy="150876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320040" y="2697480"/>
            <a:ext cx="1005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280720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Logout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3191256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logged-in user can log out at any time. Session ends and user is sent to the login page.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2697480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Shape 17"/>
          <p:cNvSpPr/>
          <p:nvPr/>
        </p:nvSpPr>
        <p:spPr>
          <a:xfrm>
            <a:off x="6172200" y="2697480"/>
            <a:ext cx="1005840" cy="150876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6172200" y="2697480"/>
            <a:ext cx="1005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69480" y="280720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Management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69480" y="3191256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create, update, and delete study tasks with title, description, status, priority, and due date.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389120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>
            <a:off x="320040" y="4389120"/>
            <a:ext cx="1005840" cy="150876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320040" y="4389120"/>
            <a:ext cx="1005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17320" y="449884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 Taking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17320" y="4882896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take admin-created quizzes. Questions appear one-by-one as multiple choice. Score shown on submit.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4389120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Shape 27"/>
          <p:cNvSpPr/>
          <p:nvPr/>
        </p:nvSpPr>
        <p:spPr>
          <a:xfrm>
            <a:off x="6172200" y="4389120"/>
            <a:ext cx="1005840" cy="150876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6172200" y="4389120"/>
            <a:ext cx="1005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69480" y="449884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 Result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69480" y="4882896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submitting a quiz the system shows the score immediately and saves the result for future reference.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Requirements — FR-7 to FR-12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005840" cy="1508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1005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17320" y="111556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 Tracking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499616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automatically tracks each student's completed tasks, quizzes taken, and average score on the dashboard.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005840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6172200" y="1005840"/>
            <a:ext cx="1005840" cy="1508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6172200" y="1005840"/>
            <a:ext cx="1005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269480" y="111556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Manages Students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69480" y="1499616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view all students, add new accounts, update their details, or remove them from the system.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697480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320040" y="2697480"/>
            <a:ext cx="1005840" cy="1508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320040" y="2697480"/>
            <a:ext cx="1005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280720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Creates Quizzes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3191256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creates quizzes with title, subject, total marks, and multiple-choice questions with correct answers.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2697480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Shape 17"/>
          <p:cNvSpPr/>
          <p:nvPr/>
        </p:nvSpPr>
        <p:spPr>
          <a:xfrm>
            <a:off x="6172200" y="2697480"/>
            <a:ext cx="1005840" cy="1508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6172200" y="2697480"/>
            <a:ext cx="1005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69480" y="280720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Views Reports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69480" y="3191256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sees every student's quiz scores, tasks completed, and overall progress. Reports can be generated and saved.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389120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>
            <a:off x="320040" y="4389120"/>
            <a:ext cx="1005840" cy="1508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320040" y="4389120"/>
            <a:ext cx="1005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17320" y="449884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Sends Notifications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17320" y="4882896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writes and sends announcements to students. Students see notifications on their dashboard on login.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4389120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Shape 27"/>
          <p:cNvSpPr/>
          <p:nvPr/>
        </p:nvSpPr>
        <p:spPr>
          <a:xfrm>
            <a:off x="6172200" y="4389120"/>
            <a:ext cx="1005840" cy="1508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6172200" y="4389120"/>
            <a:ext cx="1005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69480" y="449884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69480" y="4882896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forms are validated — email format, password length, required fields. Clear error messages guide the user.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Non-Functional Requirements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3749040" cy="2148840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749040" cy="438912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384048" y="100584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Performance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536192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load quickly and respond smoothly even with many simultaneous users.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005840"/>
            <a:ext cx="3749040" cy="2148840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4251960" y="1005840"/>
            <a:ext cx="3749040" cy="438912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4361688" y="100584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1536192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 + JWT auth. Only verified users can access protected data.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1005840"/>
            <a:ext cx="3749040" cy="2148840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8229600" y="1005840"/>
            <a:ext cx="3749040" cy="438912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8339328" y="100584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Reliability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66760" y="1536192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operates without crashing. All tasks, scores and progress saved accurately.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520440"/>
            <a:ext cx="3749040" cy="2148840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274320" y="3520440"/>
            <a:ext cx="3749040" cy="438912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384048" y="352044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Usability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4050792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clean interface. Students with basic computer knowledge can use all features.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51960" y="3520440"/>
            <a:ext cx="3749040" cy="2148840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4251960" y="3520440"/>
            <a:ext cx="3749040" cy="438912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4361688" y="352044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Responsiveness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89120" y="4050792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desktops, laptops, tablets and mobiles via Chrome and Safari.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0" y="3520440"/>
            <a:ext cx="3749040" cy="2148840"/>
          </a:xfrm>
          <a:prstGeom prst="rect">
            <a:avLst/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>
            <a:off x="8229600" y="3520440"/>
            <a:ext cx="3749040" cy="438912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8339328" y="352044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Maintainability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66760" y="4050792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architecture makes it easy to extend, debug, and maintain.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Feature: Dashboard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5394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FBF"/>
            </a:solidFill>
            <a:prstDash val="solid"/>
          </a:ln>
          <a:effectLst>
            <a:outerShdw blurRad="63500" dist="25400" dir="2700000" algn="bl" rotWithShape="0">
              <a:srgbClr val="AAAAAA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5394960" cy="36576"/>
          </a:xfrm>
          <a:prstGeom prst="rect">
            <a:avLst/>
          </a:prstGeom>
          <a:solidFill>
            <a:srgbClr val="2E6FBF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Stats Row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512064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Tasks, Completed, Quizzes Taken, Completion Rate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links to its relevant page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2788920"/>
            <a:ext cx="5394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8C"/>
            </a:solidFill>
            <a:prstDash val="solid"/>
          </a:ln>
          <a:effectLst>
            <a:outerShdw blurRad="63500" dist="25400" dir="2700000" algn="bl" rotWithShape="0">
              <a:srgbClr val="AAAAAA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5394960" cy="36576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457200" y="286207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Task Panel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5120640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6 pending tasks with inline quick-add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complete, delete with confirmation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SVG ring chart for completion 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89320" y="1005840"/>
            <a:ext cx="5394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FBF"/>
            </a:solidFill>
            <a:prstDash val="solid"/>
          </a:ln>
          <a:effectLst>
            <a:outerShdw blurRad="63500" dist="25400" dir="2700000" algn="bl" rotWithShape="0">
              <a:srgbClr val="AAAAAA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5989320" y="1005840"/>
            <a:ext cx="5394960" cy="36576"/>
          </a:xfrm>
          <a:prstGeom prst="rect">
            <a:avLst/>
          </a:prstGeom>
          <a:solidFill>
            <a:srgbClr val="2E6FBF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6126480" y="107899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⏰ Live Header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1463040"/>
            <a:ext cx="512064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greeting: Good morning/afternoon/evening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date + clock updated every minute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89320" y="2788920"/>
            <a:ext cx="5394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8C"/>
            </a:solidFill>
            <a:prstDash val="solid"/>
          </a:ln>
          <a:effectLst>
            <a:outerShdw blurRad="63500" dist="25400" dir="2700000" algn="bl" rotWithShape="0">
              <a:srgbClr val="AAAAAA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5989320" y="2788920"/>
            <a:ext cx="5394960" cy="36576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6126480" y="286207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Quick Actions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3246120"/>
            <a:ext cx="5120640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Quiz → /quiz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Tasks → /tasks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Progress → /progress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3 quiz scores shown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8F3827-CF1D-6ECB-FF80-348ECAA767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93" b="5096"/>
          <a:stretch>
            <a:fillRect/>
          </a:stretch>
        </p:blipFill>
        <p:spPr>
          <a:xfrm>
            <a:off x="0" y="-21772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2900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Feature: Task Management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51560"/>
            <a:ext cx="3749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50800" dist="25400" dir="27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438912" y="12161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87552" y="11887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87552" y="1581912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subject, due date, priority (HIGH/MEDIUM/LOW)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051560"/>
            <a:ext cx="3749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50800" dist="25400" dir="27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4416552" y="12161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65192" y="11887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Pills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65192" y="1581912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Colour-coded: purple HIGH · gold MEDIUM · green LOW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1051560"/>
            <a:ext cx="3749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50800" dist="25400" dir="27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8394192" y="12161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942832" y="11887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 Tabs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42832" y="1581912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· Pending · Completed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246120"/>
            <a:ext cx="3749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50800" dist="25400" dir="27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438912" y="34107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87552" y="33832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Toggle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87552" y="3776472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checkbox marks complete/incomplete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51960" y="3246120"/>
            <a:ext cx="3749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50800" dist="25400" dir="27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4416552" y="34107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965192" y="33832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65192" y="3776472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dialog prevents accidents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0" y="3246120"/>
            <a:ext cx="37490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50800" dist="25400" dir="27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8394192" y="34107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942832" y="33832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942832" y="3776472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storage, scoped per user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Feature: Quiz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3703320" cy="1463040"/>
          </a:xfrm>
          <a:prstGeom prst="rect">
            <a:avLst/>
          </a:prstGeom>
          <a:solidFill>
            <a:srgbClr val="2E6FBF"/>
          </a:solidFill>
          <a:ln w="12700">
            <a:solidFill>
              <a:srgbClr val="2E6FBF"/>
            </a:solidFill>
            <a:prstDash val="solid"/>
          </a:ln>
          <a:effectLst>
            <a:outerShdw blurRad="76200" dist="25400" dir="2700000" algn="bl" rotWithShape="0">
              <a:srgbClr val="777777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Fundamentals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1848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 each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· HTML · CSS · UI · Browsers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51960" y="1005840"/>
            <a:ext cx="3703320" cy="146304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  <a:effectLst>
            <a:outerShdw blurRad="76200" dist="25400" dir="2700000" algn="bl" rotWithShape="0">
              <a:srgbClr val="777777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4434840" y="111556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&amp; Databases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34840" y="161848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 each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34840" y="19202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Serverless · AWS · Responsive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0" y="1005840"/>
            <a:ext cx="3703320" cy="14630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  <a:effectLst>
            <a:outerShdw blurRad="76200" dist="25400" dir="2700000" algn="bl" rotWithShape="0">
              <a:srgbClr val="777777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8412480" y="111556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Strategies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12480" y="161848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 each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0" y="19202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Pomodoro · Active Recall · SRS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6888" y="288036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D6E4F7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246888" y="28803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Pick a Quiz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350008" y="3127248"/>
            <a:ext cx="274320" cy="292608"/>
          </a:xfrm>
          <a:prstGeom prst="rightArrow">
            <a:avLst/>
          </a:prstGeom>
          <a:solidFill>
            <a:srgbClr val="2E6FBF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2624328" y="288036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2624328" y="28803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Answer Question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27448" y="3127248"/>
            <a:ext cx="274320" cy="292608"/>
          </a:xfrm>
          <a:prstGeom prst="rightArrow">
            <a:avLst/>
          </a:prstGeom>
          <a:solidFill>
            <a:srgbClr val="2E6FBF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5001768" y="288036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D6E4F7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5001768" y="28803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Instant Feedback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04888" y="3127248"/>
            <a:ext cx="274320" cy="292608"/>
          </a:xfrm>
          <a:prstGeom prst="rightArrow">
            <a:avLst/>
          </a:prstGeom>
          <a:solidFill>
            <a:srgbClr val="2E6FBF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>
            <a:off x="7379208" y="288036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7379208" y="28803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See Score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482328" y="3127248"/>
            <a:ext cx="274320" cy="292608"/>
          </a:xfrm>
          <a:prstGeom prst="rightArrow">
            <a:avLst/>
          </a:prstGeom>
          <a:solidFill>
            <a:srgbClr val="2E6FBF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9756648" y="288036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D6E4F7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9756648" y="28803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Score Saved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3931920"/>
            <a:ext cx="112471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feedback: correct = green highlight, wrong = red highlight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 shows current question position within the quiz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the same quiz or return to quiz picker after seeing results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Feature: Progress Tracking &amp; Admin Panel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55778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FBF"/>
            </a:solidFill>
            <a:prstDash val="solid"/>
          </a:ln>
          <a:effectLst>
            <a:outerShdw blurRad="63500" dist="25400" dir="2700000" algn="bl" rotWithShape="0">
              <a:srgbClr val="AAAAAA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577840" cy="36576"/>
          </a:xfrm>
          <a:prstGeom prst="rect">
            <a:avLst/>
          </a:prstGeom>
          <a:solidFill>
            <a:srgbClr val="2E6FBF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📈 Progress Tracking (all users)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463040"/>
            <a:ext cx="5303520" cy="4645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rate %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tasks vs. completed tasks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quizzes taken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quiz history (most recent first)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progress bar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89320" y="1005840"/>
            <a:ext cx="55778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8C"/>
            </a:solidFill>
            <a:prstDash val="solid"/>
          </a:ln>
          <a:effectLst>
            <a:outerShdw blurRad="63500" dist="25400" dir="2700000" algn="bl" rotWithShape="0">
              <a:srgbClr val="AAAAAA">
                <a:alpha val="25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5989320" y="1005840"/>
            <a:ext cx="5577840" cy="36576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6126480" y="107899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⚙️ Admin Panel (admin role only)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1463040"/>
            <a:ext cx="5303520" cy="4645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quizzes with question counts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rename / delete quizzes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questions (up to 4 options + correct answer)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individual questions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registered users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or revoke admin access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cannot change their own role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Implementation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3749040" cy="1783080"/>
          </a:xfrm>
          <a:prstGeom prst="rect">
            <a:avLst/>
          </a:prstGeom>
          <a:solidFill>
            <a:srgbClr val="F4F6FA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438912" y="117043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11430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Password Storage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536192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with 10 salt rounds — never stored in plaintext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005840"/>
            <a:ext cx="3749040" cy="1783080"/>
          </a:xfrm>
          <a:prstGeom prst="rect">
            <a:avLst/>
          </a:prstGeom>
          <a:solidFill>
            <a:srgbClr val="F4F6FA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4416552" y="117043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83480" y="11430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6F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JWT Auth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1536192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JWT, 7-day expiry, signed with JWT_SECRET env var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1005840"/>
            <a:ext cx="3749040" cy="1783080"/>
          </a:xfrm>
          <a:prstGeom prst="rect">
            <a:avLst/>
          </a:prstGeom>
          <a:solidFill>
            <a:srgbClr val="F4F6FA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8394192" y="117043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961120" y="11430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Middleware Chain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61120" y="1536192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requireAuth → requireOwner / requireAdmin on every route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3749040" cy="1783080"/>
          </a:xfrm>
          <a:prstGeom prst="rect">
            <a:avLst/>
          </a:prstGeom>
          <a:solidFill>
            <a:srgbClr val="F4F6FA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438912" y="33649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💉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5840" y="33375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Injection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730752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queries ($1, $2, ...) via pg library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51960" y="3200400"/>
            <a:ext cx="3749040" cy="1783080"/>
          </a:xfrm>
          <a:prstGeom prst="rect">
            <a:avLst/>
          </a:prstGeom>
          <a:solidFill>
            <a:srgbClr val="F4F6FA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4416552" y="33649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983480" y="33375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6F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Validation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83480" y="3730752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checks + max-length guards on all user inputs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0" y="3200400"/>
            <a:ext cx="3749040" cy="1783080"/>
          </a:xfrm>
          <a:prstGeom prst="rect">
            <a:avLst/>
          </a:prstGeom>
          <a:solidFill>
            <a:srgbClr val="F4F6FA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8394192" y="33649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961120" y="33375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Exposure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961120" y="3730752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excluded from all API responses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Improvements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5394960" cy="585216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212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CORS open (*)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715000" y="1152144"/>
            <a:ext cx="256032" cy="292608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5943600" y="1005840"/>
            <a:ext cx="5943600" cy="585216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6080760" y="1005840"/>
            <a:ext cx="5669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Restrict to frontend domain in production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709928"/>
            <a:ext cx="5394960" cy="585216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5212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task edit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15000" y="1856232"/>
            <a:ext cx="256032" cy="292608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5943600" y="1709928"/>
            <a:ext cx="5943600" cy="585216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6080760" y="1709928"/>
            <a:ext cx="5669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Add in-place edit functionality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414016"/>
            <a:ext cx="5394960" cy="585216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457200" y="2414016"/>
            <a:ext cx="5212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quiz timer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0" y="2560320"/>
            <a:ext cx="256032" cy="292608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5943600" y="2414016"/>
            <a:ext cx="5943600" cy="585216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6080760" y="2414016"/>
            <a:ext cx="5669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Add per-question countdown timer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5394960" cy="585216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457200" y="3118104"/>
            <a:ext cx="5212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email verify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15000" y="3264408"/>
            <a:ext cx="256032" cy="292608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5943600" y="3118104"/>
            <a:ext cx="5943600" cy="585216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6080760" y="3118104"/>
            <a:ext cx="5669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Add verification + password reset flow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822192"/>
            <a:ext cx="5394960" cy="585216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457200" y="3822192"/>
            <a:ext cx="5212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tests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715000" y="3968496"/>
            <a:ext cx="256032" cy="292608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Shape 24"/>
          <p:cNvSpPr/>
          <p:nvPr/>
        </p:nvSpPr>
        <p:spPr>
          <a:xfrm>
            <a:off x="5943600" y="3822192"/>
            <a:ext cx="5943600" cy="585216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6080760" y="3822192"/>
            <a:ext cx="5669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Add Jest / Vitest unit &amp; integration tests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4526280"/>
            <a:ext cx="5394960" cy="585216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457200" y="4526280"/>
            <a:ext cx="5212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deploy config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715000" y="4672584"/>
            <a:ext cx="256032" cy="292608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Shape 29"/>
          <p:cNvSpPr/>
          <p:nvPr/>
        </p:nvSpPr>
        <p:spPr>
          <a:xfrm>
            <a:off x="5943600" y="4526280"/>
            <a:ext cx="5943600" cy="585216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Text 30"/>
          <p:cNvSpPr/>
          <p:nvPr/>
        </p:nvSpPr>
        <p:spPr>
          <a:xfrm>
            <a:off x="6080760" y="4526280"/>
            <a:ext cx="5669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Docker, nginx, PM2 for production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" y="5230368"/>
            <a:ext cx="5394960" cy="585216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457200" y="5230368"/>
            <a:ext cx="5212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JWT in sessionStorage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715000" y="5376672"/>
            <a:ext cx="256032" cy="292608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Shape 34"/>
          <p:cNvSpPr/>
          <p:nvPr/>
        </p:nvSpPr>
        <p:spPr>
          <a:xfrm>
            <a:off x="5943600" y="5230368"/>
            <a:ext cx="5943600" cy="585216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6080760" y="5230368"/>
            <a:ext cx="5669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httpOnly cookies for XSS resistance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Timeline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04672" y="1691640"/>
            <a:ext cx="36576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457200" cy="457200"/>
          </a:xfrm>
          <a:prstGeom prst="ellipse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234440" y="1115568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234440" y="111556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3e3f53f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1115568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commit: Smart Study Planner (React + Express + PostgreSQL)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4672" y="2715768"/>
            <a:ext cx="36576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594360" y="2139696"/>
            <a:ext cx="457200" cy="457200"/>
          </a:xfrm>
          <a:prstGeom prst="ellipse">
            <a:avLst/>
          </a:prstGeom>
          <a:solidFill>
            <a:srgbClr val="2E6FBF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1234440" y="2139696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234440" y="213969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7d54ad6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2139696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.vite cache, tighten .gitignore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" y="3739896"/>
            <a:ext cx="36576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594360" y="3163824"/>
            <a:ext cx="457200" cy="457200"/>
          </a:xfrm>
          <a:prstGeom prst="ellipse">
            <a:avLst/>
          </a:prstGeom>
          <a:solidFill>
            <a:srgbClr val="2E6FBF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Shape 13"/>
          <p:cNvSpPr/>
          <p:nvPr/>
        </p:nvSpPr>
        <p:spPr>
          <a:xfrm>
            <a:off x="1234440" y="3163824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1234440" y="316382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a16abdc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3163824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share script: concurrently + localtunnel for public sharing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" y="4764024"/>
            <a:ext cx="36576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Shape 17"/>
          <p:cNvSpPr/>
          <p:nvPr/>
        </p:nvSpPr>
        <p:spPr>
          <a:xfrm>
            <a:off x="594360" y="4187952"/>
            <a:ext cx="457200" cy="457200"/>
          </a:xfrm>
          <a:prstGeom prst="ellipse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1234440" y="4187952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1234440" y="418795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5d0fe1b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0" y="4187952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DB connection: load .env via dotenv, update proxy and CORS headers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" y="5212080"/>
            <a:ext cx="457200" cy="45720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>
            <a:off x="1234440" y="521208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1234440" y="5212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cd58bcd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60320" y="521208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audit: JWT auth, error handling, UI polish, more quizzes (latest)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6FBF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enhancements for the next version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151B2E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60020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E4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AI-Based Suggestions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2075688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 tasks and quizzes based on student weak areas and performance history.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41732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151B2E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461772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12080" y="160020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E4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Notifications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2075688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reminders for pending tasks, quiz deadlines, and system updates via email.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458200" y="141732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151B2E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859536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89720" y="160020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E4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Application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89720" y="2075688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iOS and Android app so students can access the planner on smartphones.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88620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151B2E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64008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34440" y="406908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E4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&amp; Discussion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4544568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system allowing students and admins to communicate and share study tips.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388620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151B2E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461772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212080" y="406908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E4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Deployment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12080" y="4544568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AWS/Heroku with Docker and nginx for production-grade availability.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58200" y="388620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151B2E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859536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89720" y="406908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E4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Analytics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89720" y="4544568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dashboards with charts, trends, and exportable reports per student/subject.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6FBF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151B2E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Complete full-stack web application — React + Express + PostgreSQL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7335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151B2E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594360" y="167335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Secure JWT auth with bcrypt hashing and role-based middleware (student / admin)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40864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151B2E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594360" y="2340864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Full task management — priority, filtering, real-time UI updates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08376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151B2E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594360" y="3008376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Quiz engine — instant feedback, score history, admin-managed content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75888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151B2E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594360" y="3675888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Progress dashboard — completion rate, quiz history, per-student stats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34340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151B2E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594360" y="434340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 Admin panel — full quiz &amp; user management with notifications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5010912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151B2E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594360" y="501091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 Relational DB in 3NF — 6 tables, auto-initialised, seeded on first run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5678424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151B2E"/>
          </a:solidFill>
          <a:ln w="12700">
            <a:solidFill>
              <a:srgbClr val="2E6FB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594360" y="5678424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 Clean three-layer architecture — Presentation → Application → Data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Pandey Anish Raj  ·  Chand Rishab  ·  Timalsina Sudarshan  ·  Oli Shubhash  ·  Thing Pemba Dorge  ·  Thapa Prayash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2276</Words>
  <Application>Microsoft Macintosh PowerPoint</Application>
  <PresentationFormat>Widescreen</PresentationFormat>
  <Paragraphs>511</Paragraphs>
  <Slides>31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판데이아니쉬라즈</cp:lastModifiedBy>
  <cp:revision>14</cp:revision>
  <dcterms:created xsi:type="dcterms:W3CDTF">2026-06-08T02:54:08Z</dcterms:created>
  <dcterms:modified xsi:type="dcterms:W3CDTF">2026-06-08T03:59:01Z</dcterms:modified>
</cp:coreProperties>
</file>